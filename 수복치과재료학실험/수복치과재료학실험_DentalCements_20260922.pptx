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14B3F"/>
                </a:solidFill>
                <a:latin typeface="맑은 고딕"/>
              </a:defRPr>
            </a:pPr>
            <a:r>
              <a:rPr sz="1250" b="0" i="0" u="none" strike="noStrike">
                <a:solidFill>
                  <a:srgbClr val="114B3F"/>
                </a:solidFill>
                <a:latin typeface="맑은 고딕"/>
              </a:rPr>
              <a:t>평균 Setting time (분)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Setting time</c:v>
                </c:pt>
              </c:strCache>
            </c:strRef>
          </c:tx>
          <c:spPr>
            <a:solidFill>
              <a:srgbClr val="114B3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C23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ZPC
15%↓</c:v>
                  </c:pt>
                  <c:pt idx="1">
                    <c:v>ZPC
정상</c:v>
                  </c:pt>
                  <c:pt idx="2">
                    <c:v>ZPC
15%↑</c:v>
                  </c:pt>
                  <c:pt idx="3">
                    <c:v>ZPC
15%↑+냉각판</c:v>
                  </c:pt>
                  <c:pt idx="4">
                    <c:v>PC
정상</c:v>
                  </c:pt>
                  <c:pt idx="5">
                    <c:v>GIC
정상</c:v>
                  </c:pt>
                  <c:pt idx="6">
                    <c:v>RMGI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13.13</c:v>
                </c:pt>
                <c:pt idx="1">
                  <c:v>11.2</c:v>
                </c:pt>
                <c:pt idx="2">
                  <c:v>7.63</c:v>
                </c:pt>
                <c:pt idx="3">
                  <c:v>10.08</c:v>
                </c:pt>
                <c:pt idx="4">
                  <c:v>10.29</c:v>
                </c:pt>
                <c:pt idx="5">
                  <c:v>6.03</c:v>
                </c:pt>
                <c:pt idx="6">
                  <c:v>6.4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C23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4DE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14B3F"/>
                </a:solidFill>
                <a:latin typeface="맑은 고딕"/>
              </a:defRPr>
            </a:pPr>
            <a:r>
              <a:rPr sz="1250" b="0" i="0" u="none" strike="noStrike">
                <a:solidFill>
                  <a:srgbClr val="114B3F"/>
                </a:solidFill>
                <a:latin typeface="맑은 고딕"/>
              </a:rPr>
              <a:t>평균 Film thickness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Film thickness</c:v>
                </c:pt>
              </c:strCache>
            </c:strRef>
          </c:tx>
          <c:spPr>
            <a:solidFill>
              <a:srgbClr val="F270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C23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ZPC
15%↓</c:v>
                  </c:pt>
                  <c:pt idx="1">
                    <c:v>ZPC
정상</c:v>
                  </c:pt>
                  <c:pt idx="2">
                    <c:v>ZPC
15%↑</c:v>
                  </c:pt>
                  <c:pt idx="3">
                    <c:v>ZPC
15%↑+냉각판</c:v>
                  </c:pt>
                  <c:pt idx="4">
                    <c:v>RMGI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0.0352</c:v>
                </c:pt>
                <c:pt idx="1">
                  <c:v>0.047</c:v>
                </c:pt>
                <c:pt idx="2">
                  <c:v>0.0492</c:v>
                </c:pt>
                <c:pt idx="3">
                  <c:v>0.0123</c:v>
                </c:pt>
                <c:pt idx="4">
                  <c:v>0.0152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50" u="none">
                  <a:solidFill>
                    <a:srgbClr val="1C23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4DE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치과재료학(제9판), 한국치과재료학교수협의회 / Dental Cements 강의PPT 2026S(수복치과재료학 이론 교안, 9/22).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ISO 9917-1:2007 규격 원문(강의 자료 인용) 및 각 제품 설명서(Elite Cement 100 / Hy-Bond Carbo Plus / GC Fuji I, 첨부 설명서 원문 기준).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Notion 수업일지 9.22 (수복치과재료학실험) + 강의 슬라이드 「Aims of experiment」 원문. 수업 초반 하이브리드 콤포짓 Q&amp;A는 지난 주 복습 성격이라 요약에서 제외, 오늘의 재료실험 파트만 정리함.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반 전체 취합 데이터(6개 조, A1~A6). Notion 9.22 수업일지의 '보고서: 전체조 데이터 평균/비교' 지시에 따라 구성. 시간 단위 해석에 가정이 포함되어 있으므로 발표 전 원본 스프레드시트로 재확인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참고 PPT(박수진 외, A반 5조) 고찰 구조를 참고해 재구성 — 다만 수치·조건은 오늘 A반 본인 실측 기준으로 새로 정리한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4B3F"/>
          </a:solidFill>
          <a:ln/>
        </p:spPr>
      </p:sp>
      <p:sp>
        <p:nvSpPr>
          <p:cNvPr id="3" name="Shape 1"/>
          <p:cNvSpPr/>
          <p:nvPr/>
        </p:nvSpPr>
        <p:spPr>
          <a:xfrm>
            <a:off x="8348472" y="-1828800"/>
            <a:ext cx="5943600" cy="5943600"/>
          </a:xfrm>
          <a:prstGeom prst="ellipse">
            <a:avLst/>
          </a:prstGeom>
          <a:solidFill>
            <a:srgbClr val="0B33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수복치과재료학실험 · A2조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2344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Dental Cements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FE0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Time &amp; Film Thickness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697480"/>
            <a:ext cx="640080" cy="5486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154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50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실험일  </a:t>
            </a:r>
            <a:pPr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9. 22 (화) · A2조
</a:t>
            </a:r>
            <a:pPr indent="0" marL="0">
              <a:lnSpc>
                <a:spcPct val="160000"/>
              </a:lnSpc>
              <a:buNone/>
            </a:pPr>
            <a:r>
              <a:rPr lang="en-US" sz="150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주작성자  </a:t>
            </a:r>
            <a:pPr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김민서A 김민성
</a:t>
            </a:r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김나영 김다솔 김도연 김민서A 김민서B 김민성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14B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487168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270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487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목적 및 시행 항목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3145536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14B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1455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14553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재료 및 방법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803904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270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03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80390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462272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14B3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62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4622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해석 및 고찰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·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Dental Cement의 용도와 유지 인자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Dental Cement의 용도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965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965960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Luting agent — 인레이, 금관, 수복물, 교정장치 등의 합착·고정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7157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61872" y="2715768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Cement base — 치수 보호 및 수복물 하부 구조(와동 이장재·베이스)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4655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61872" y="3465576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Restorative materials — 형성된 와동의 영구/임시 충전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1538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4215384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수술용 드레싱재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55448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Cement의 유지(retention) 인자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217920" y="186537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21" name="Shape 19"/>
          <p:cNvSpPr/>
          <p:nvPr/>
        </p:nvSpPr>
        <p:spPr>
          <a:xfrm>
            <a:off x="6217920" y="1965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▾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1965960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피막도(film thickness)가 작을수록 우수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27157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839712" y="2715768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성질이 우수해야 함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34655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1792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839712" y="3465576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경화 중 크기 변화(수축·팽창)가 작아야 함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217920" y="421538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1792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⚗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839712" y="4215384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치질과 화학적 결합능이 있으면 우수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484632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Cement의 분류 (결합 기전 기준)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40080" y="515721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35" name="Shape 33"/>
          <p:cNvSpPr/>
          <p:nvPr/>
        </p:nvSpPr>
        <p:spPr>
          <a:xfrm>
            <a:off x="640080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77240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114B3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77240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인산염계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77240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phosphate-bonded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ZPC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424428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561588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270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561588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561588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페놀염계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3561588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phenolate-bonded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ZOE, 수산화칼슘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208776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345936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114B3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345936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345936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폴리카복실레이트계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6345936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polycarboxylate-bonded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PC, GI(GIC)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993124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9130284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270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130284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130284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레진계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9130284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resin-bonded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레진 시멘트, RMGI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·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다루는 시멘트: ZPC · PC · GIC · RMGI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50876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09928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14B3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ZPC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27632" y="1709928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(Zinc Phosphate Cement)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67128"/>
            <a:ext cx="3099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Composition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Powder: ZnO, MgO
Solution: 인산, 물
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Purpose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수복물 영구 합착, 교정용 밴드 접착,
고강도 베이스, 임시수복재
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Glass slab 위, metal spatula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34840" y="150876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1709928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14B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90872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22392" y="1709928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(Polycarboxylate)</a:t>
            </a:r>
            <a:endParaRPr lang="en-US" sz="1050" dirty="0"/>
          </a:p>
        </p:txBody>
      </p:sp>
      <p:pic>
        <p:nvPicPr>
          <p:cNvPr id="14" name="Image 0" descr="/home/user/-/수복치과재료학실험/dental_photos/insert/photo_0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54980" y="2167128"/>
            <a:ext cx="1371600" cy="10287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554980" y="2167128"/>
            <a:ext cx="1371600" cy="102870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90872" y="3223260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재료 — Hy-Bond Carbo Plus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690872" y="3534156"/>
            <a:ext cx="3099816" cy="199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Composition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Powder: ZnO, MgO
Solution: 폴리아크릴산, 물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Purpose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영구 합착용, 이장용, 베이스용,
교정용 밴드 정착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Paper pad 위, plastic spatula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229600" y="150876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485632" y="1709928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14B3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485632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217152" y="1709928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(Glass Ionomer)</a:t>
            </a:r>
            <a:endParaRPr lang="en-US" sz="1050" dirty="0"/>
          </a:p>
        </p:txBody>
      </p:sp>
      <p:pic>
        <p:nvPicPr>
          <p:cNvPr id="22" name="Image 1" descr="/home/user/-/수복치과재료학실험/dental_photos/insert/photo_1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349740" y="2167128"/>
            <a:ext cx="1371600" cy="102870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9349740" y="2167128"/>
            <a:ext cx="1371600" cy="102870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485632" y="3223260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GIC 재료 — GC Fuji I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8485632" y="3534156"/>
            <a:ext cx="3099816" cy="199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Composition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Powder: F-Al-실리케이트 글라스
Solution: 폴리아크릴산 등, 물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Purpose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수복물 영구 합착, 유치 수복, 임시 수복,
소와열구전색, 교정용 밴드 합착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Paper pad 위, plastic spatula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68680" y="5916168"/>
            <a:ext cx="10451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냉각판 혼합법(frozen slab method):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냉동고에 보관해 둔 유리판. 15% 높은 분액비 조건에서 사용 — 작업시간은 길고 경화시간은 짧음, 필요 분말량은 보통보다 50~70% 많으나 결로는 분액비로 보상. 압축·인장강도·용해도는 상온 혼합과 큰 차이 없음.
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RMGI(Resin-Modified GI):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GIC 개량형 — 1:1 auto-mixing tip으로 혼합, 광중합/화학중합 병행(dual-cure) 가능.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·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9917-1:2007 측정 규격 &amp; 제조사 공식 값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규격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74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Indentor: (400±5)g, flat end 지름 (1±0.1)mm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mould/block: 37±1°C(구강 내 온도) · Cabinet: 37±1°C·습도 90%(구강 내 습도) 유지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Net setting time(순경화시간) = mixing 종료 시점부터 indentor가 완전한 원형 압흔을 남기지 못하는 시점까지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8328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Film Thickness 규격 (Luting cement 한정)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7490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½ 슬라이드글라스 2매의 두께를 1µm 단위로 선측정(A)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글라스판 사이에 혼합 시멘트 0.1g을 개재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정하중 압축기 150N의 힘을 10분간 가함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시멘트가 개재된 상태로 재측정(B) → 피막도 = B − A (µm)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508760"/>
            <a:ext cx="512064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629400" y="16459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제조사 공식 값 (제품 설명서 기준)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2011680"/>
          <a:ext cx="4663440" cy="2286000"/>
        </p:xfrm>
        <a:graphic>
          <a:graphicData uri="http://schemas.openxmlformats.org/drawingml/2006/table">
            <a:tbl>
              <a:tblPr/>
              <a:tblGrid>
                <a:gridCol w="502920"/>
                <a:gridCol w="1417320"/>
                <a:gridCol w="868680"/>
                <a:gridCol w="685800"/>
                <a:gridCol w="594360"/>
                <a:gridCol w="5943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P/L ratio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Mixing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Elite Cement 100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1.45g/0.5mL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60~90초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3~4분*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7분 10초*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Hy-Bond Carbo Plus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2.2g/1.0g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45초 이내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3분*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4분*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GC Fuji 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1.8g/1.0g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2분†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4분 30초‡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6629400" y="4434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mixing 종료(합착) 기준  † mixing 시작 기준  ‡ 수복물 장착 이후 최종 마무리 가능 시점 — 제품마다 기준 시점이 달라 직접 비교 시 유의.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40080" y="553212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640080" y="5532120"/>
            <a:ext cx="73152" cy="86868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14400" y="5669280"/>
            <a:ext cx="10405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조건 vs ISO 표준: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실습실은 ISO 표준 조건(37±1°C·습도 90%)이 아닌 상온(약 23°C, 습도 통제 없음)에서 진행 — 온도가 낮을수록 반응속도가 느려지므로, 실측 setting time이 제조사 공식 값보다 전반적으로 길게 나온 주요 원인으로 추정됨.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개요 ·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목적 및 시행 항목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9/22 수업일지 요약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실습은 ZPC를 중심으로 분액비(P/L ratio)를 정상·±15%·냉각판 네 조건으로 바꿔가며 mixing·setting time을 측정하고, 슬라이드글라스 사이에 시멘트를 끼워 피막도(film thickness)를 재는 두 갈래로 진행됨. 같은 틀로 PC·GIC·RMGI·ZOE도 함께 다룸.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10908792" cy="1737360"/>
        </p:xfrm>
        <a:graphic>
          <a:graphicData uri="http://schemas.openxmlformats.org/drawingml/2006/table">
            <a:tbl>
              <a:tblPr/>
              <a:tblGrid>
                <a:gridCol w="2194560"/>
                <a:gridCol w="5212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 변수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 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/ 15%↑ / 15%↓ / 냉각판(frozen)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time, film thickness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RMGI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 auto-mixing tip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time, film thickness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ZOE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적당량(구경·시연만)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34340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목적 (수업 슬라이드 원문)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65429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46634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시멘트의 혼합 방법의 차이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시멘트 혼합 시 점도의 차이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분액비의 차이가 경화시간에 미치는 영향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466344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냉각판 사용의 의미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피막도 측정오류의 이유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각 시멘트 혼합물의 특징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576072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 원리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40080" y="607161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0080" y="608076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ISO 9917-1:2007 규격의 indentor(400±5g, 끝 지름 1±0.1mm)로 압입 — 일정 간격(초기 30초 → 임박 시 10초)으로 눌러 완전한 원형 압흔이 안 남는 시점을 setting time으로 기록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개요 ·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재료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6304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1664208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측정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10312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Dental cements: ZPC, PC, GIC, RMGI, ZOE(구경용)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Glass slab / frozen glass, paper pad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spatula, plastic spatula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mold, Al foil, metal block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Indentor(탐침), Timer, Vaseline</a:t>
            </a:r>
            <a:endParaRPr lang="en-US" sz="1250" dirty="0"/>
          </a:p>
        </p:txBody>
      </p:sp>
      <p:pic>
        <p:nvPicPr>
          <p:cNvPr id="8" name="Image 0" descr="/home/user/-/수복치과재료학실험/dental_photos/insert/photo_0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32688" y="3794760"/>
            <a:ext cx="2148840" cy="161163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32688" y="3794760"/>
            <a:ext cx="2148840" cy="161163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32688" y="543382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분액비 조정 — liquid drop 계량</a:t>
            </a:r>
            <a:endParaRPr lang="en-US" sz="1100" dirty="0"/>
          </a:p>
        </p:txBody>
      </p:sp>
      <p:pic>
        <p:nvPicPr>
          <p:cNvPr id="11" name="Image 1" descr="/home/user/-/수복치과재료학실험/dental_photos/insert/photo_0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64408" y="3794760"/>
            <a:ext cx="2148840" cy="161163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64408" y="3794760"/>
            <a:ext cx="2148840" cy="161163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264408" y="543382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경화 중인 시편 (metal mold rack)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63640" y="146304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556248" y="1664208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Film thickness 측정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6556248" y="210312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ZPC(정상/±15%/냉각판 조건)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Slide glass 2매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spatula, cotton swab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Micrometer(두께 측정기)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하중장치(150N, load compressor)</a:t>
            </a:r>
            <a:endParaRPr lang="en-US" sz="1250" dirty="0"/>
          </a:p>
        </p:txBody>
      </p:sp>
      <p:pic>
        <p:nvPicPr>
          <p:cNvPr id="17" name="Image 2" descr="/home/user/-/수복치과재료학실험/dental_photos/insert/photo_05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12380" y="3794760"/>
            <a:ext cx="2651760" cy="19888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612380" y="3794760"/>
            <a:ext cx="2651760" cy="198882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612380" y="58110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필름두께 측정기 (하중장치)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개요 ·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방법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분액비(P/L ratio) 조건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81965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5577840" cy="2743200"/>
        </p:xfrm>
        <a:graphic>
          <a:graphicData uri="http://schemas.openxmlformats.org/drawingml/2006/table">
            <a:tbl>
              <a:tblPr/>
              <a:tblGrid>
                <a:gridCol w="1188720"/>
                <a:gridCol w="27432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Scoop / Drop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높음(High)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낮음(Low)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 + 냉각판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9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RMGI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 auto-mixing tip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92240" y="1508760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Mixing 절차 (공통)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92240" y="181965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92240" y="18745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Powder를 scoop 수에 맞춰 먼저 덜어냄 (포션끼리 합치지 않음)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Mix 시작 직전에 liquid를 방울 단위로 옆에 떨어뜨림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떨어뜨린 liquid는 하나로 합쳐 넓게 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Liquid 위로 powder를 나눠 첨가하며 혼합 (한꺼번에 X)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가급적 빠른 시간 내에 혼합 완료</a:t>
            </a:r>
            <a:endParaRPr lang="en-US" sz="1150" dirty="0"/>
          </a:p>
        </p:txBody>
      </p:sp>
      <p:pic>
        <p:nvPicPr>
          <p:cNvPr id="11" name="Image 0" descr="/home/user/-/수복치과재료학실험/dental_photos/insert/photo_0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92640" y="1874520"/>
            <a:ext cx="2148840" cy="161163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692640" y="1874520"/>
            <a:ext cx="2148840" cy="161163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92640" y="351358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 과정 (spatula)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4828032"/>
            <a:ext cx="10908792" cy="27432"/>
          </a:xfrm>
          <a:prstGeom prst="rect">
            <a:avLst/>
          </a:prstGeom>
          <a:solidFill>
            <a:srgbClr val="E4DED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" y="4956048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Setting time / Film thickness 측정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40080" y="5266944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0080" y="5285232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Setting time: 검정 사각 금속 주형을 Al foil로 덮은 metal block에 올리고 mix 완료 재료를 채움 → 혼합 종료 90초 후부터 indentor를 수직으로 5초간 압입, 30초 간격 반복 → 예상 경화시점 30초 전부터 10초 간격으로 전환 → 완전한 원형 압흔이 안 남는 시점 기록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Film thickness: 유리판 2매를 포개어 접촉 상태 두께 선측정(A) → 혼합 종료 cement 0.10mL을 유리판 사이 중앙에 위치 → 작업시간 10초 전부터 하중장치로 150N을 10분간 적용 → 재측정(B) → 피막도 = B − A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0080" y="6492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ISO 9917-1 규격 문서는 시멘트량을 0.1g으로 표기하나, 실제 강의 프로토콜은 0.10mL 기준 — 단위 표기 차이이며 비중 차로 실질량은 유사.</a:t>
            </a:r>
            <a:endParaRPr lang="en-US" sz="900" dirty="0"/>
          </a:p>
        </p:txBody>
      </p:sp>
      <p:pic>
        <p:nvPicPr>
          <p:cNvPr id="19" name="Image 1" descr="/home/user/-/수복치과재료학실험/dental_photos/insert/photo_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89720" y="5285232"/>
            <a:ext cx="1463040" cy="10972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89720" y="5285232"/>
            <a:ext cx="1463040" cy="109728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189720" y="64099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— 금속 몰드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 ·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조건별 경화시간(setting time) 및 유리판 측정값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3520440"/>
        </p:xfrm>
        <a:graphic>
          <a:graphicData uri="http://schemas.openxmlformats.org/drawingml/2006/table">
            <a:tbl>
              <a:tblPr/>
              <a:tblGrid>
                <a:gridCol w="822960"/>
                <a:gridCol w="1737360"/>
                <a:gridCol w="1051560"/>
                <a:gridCol w="1874520"/>
                <a:gridCol w="1234440"/>
                <a:gridCol w="1371600"/>
                <a:gridCol w="109728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Scoop/Drop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유리판 측정값 (A/B, mm)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피막도(B−A, mm)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Total time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Mixing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9.464 / 9.480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0.016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17:50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16:20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9.464 / 9.474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0.010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14:15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12:45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낮음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9.466 / 9.470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18:16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16:46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 + 냉각판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9.466 / 9.486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13:33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12:03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9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10:26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0:45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9:41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9:08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0:25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8:43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RMGI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 auto-mix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9.466 / 9.480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0.014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6:24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0:00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6:24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ZOE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적당량(시연만)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Setting time(경화시간) = Total time − Mixing time. ZPC는 mixing time 1:30(수업 노트의 "1분에서 +30초까지" 구간 기준), RMGI는 auto-mixing으로 0:00으로 보고 계산. 유리판 측정값·피막도 모두 mm 단위(예: 9.480−9.464=0.016mm) — 원본 raw data 수정본(9.27) 반영.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5943600"/>
            <a:ext cx="10451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빠른 순:  RMGI(6:24) &lt; GIC(8:43) &lt; PC(9:41) &lt; ZPC 냉각판(12:03) &lt; ZPC 15%↑(12:45) &lt; ZPC 정상(16:20) &lt; ZPC 15%↓(16:46)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 ·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데이터 종합 비교 — 6개 조 평균(A반 취합)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63040"/>
            <a:ext cx="548640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graphicFrame>
        <p:nvGraphicFramePr>
          <p:cNvPr id="6" name="Chart 0" descr=""/>
          <p:cNvGraphicFramePr/>
          <p:nvPr/>
        </p:nvGraphicFramePr>
        <p:xfrm>
          <a:off x="777240" y="1600200"/>
          <a:ext cx="5212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77240" y="4709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ZPC 15%↓: 13:08   ·   ZPC 정상: 11:12   ·   ZPC 15%↑: 7:38   ·   ZPC 15%↑+냉각판: 10:05   ·   PC 정상: 10:17   ·   GIC 정상: 6:02   ·   RMGI: 6:24*   (* RMGI는 취합 표에 setting time 항목 자체가 없어 A2조 단독 값)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400800" y="1463040"/>
            <a:ext cx="530352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graphicFrame>
        <p:nvGraphicFramePr>
          <p:cNvPr id="9" name="Chart 1" descr=""/>
          <p:cNvGraphicFramePr/>
          <p:nvPr/>
        </p:nvGraphicFramePr>
        <p:xfrm>
          <a:off x="6537960" y="1600200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40080" y="502920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9/28 A1~A6 전체 취합 raw data 기준 재계산(본인 조 A2는 원 노트 mm:ss 표기, 나머지 조는 소수점 표기 — 자릿수가 60을 넘는 사례를 근거로 "분 단위 소수"로 환산, 콜론(:)으로 명확히 표기된 값은 그대로 사용). ⚠️ ZPC 15%↓·정상·15%↑ 세 조건 모두 한 조(A3)의 Film thickness 값이 다른 조 대비 3~10배 높게 나와(0.117/0.153/0.196) 평균을 끌어올림 — 같은 조의 냉각판 조건 값은 정상 범위인 점을 볼 때 측정·단위 오류 가능성 있음, 발표 전 해당 조에 재확인 권장. RMGI Setting time은 취합 표 자체에 항목이 없어 A2조 단독 값(6:24)만 반영.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해석 및 고찰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P/L ratio와 경화시간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920240"/>
            <a:ext cx="109087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이론: 분액비(P/L)가 높을수록 반응할 ZnO 양이 많아 겔 형성이 빠르고 점도가 증가 → 경화가 빨라짐 (high &lt; normal &lt; low 순으로 setting time이 길어질 것으로 예상)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실측: 15%↑(setting 12:45)가 정상(setting 16:20)보다 빠르게 나온 점은 이론과 대체로 부합하나, 정상 조건이 예상보다 오래 걸림 — 혼합 균질도, 실험실 온습도, indentor 판정의 주관성 등이 오차 요인으로 추정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42900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냉각판(frozen slab) 효과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73989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79476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이론: 온도가 낮을수록 분자 운동성·반응성이 저하되어 작업시간은 길어지고 경화시간도 길어질 것으로 예상됨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실측: 냉각판(setting 12:03)이 동일 조건 상온(setting 12:45)보다 오히려 짧게 나옴 — 예상과 반대 방향. 다만 작업시간(working time) 자체는 별도로 측정하지 못해 직접 비교는 어려움, 경화시간만으로 임의 추정한 결과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21208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재료별 특성 · 제조사 공식 값과의 비교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5522976"/>
            <a:ext cx="320040" cy="32004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5577840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RMGI(6:24)가 전 재료 중 가장 빠르게 경화 — auto-mixing으로 균질 혼합, 이중경화(dual-cure) 특성 영향으로 추정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제조사 공식 값 대비 실측이 전반적으로 느림: ZPC(제조사 7:10 vs 실측 정상 16:20, 약 2.3배) · PC(제조사 4:00 vs 실측 9:41, 약 2.4배) · GIC(제조사 4:30 vs 실측 8:43, 약 1.9배) — ISO 표준 조건(37±1°C)이 아닌 상온(약 23°C)에서 실습했기 때문으로 추정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4B3F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0B33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640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143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분액비·혼합 온도·재료 종류 모두 dental cement의 경화 시간과 피막도에 유의한 영향이 있다.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분액비가 높을수록 경화시간이 짧아지는 경향이 대체로 확인됨(일부 예외 존재 — 혼합·측정 오차 가능성)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냉각판(저온) 조건은 이론상 경화 지연을 예상했으나 실측은 반대 — 작업시간·경화시간을 분리 측정하지 못한 한계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임상에서는 합착 목적·필요 작업시간에 따라 재료와 분액비를 조절해 사용해야 함 — 예: 빠른 경화가 필요하면 high P/L, 여유 있는 작업시간이 필요하면 low P/L 또는 냉각판 활용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문헌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07008"/>
            <a:ext cx="502920" cy="45720"/>
          </a:xfrm>
          <a:prstGeom prst="rect">
            <a:avLst/>
          </a:prstGeom>
          <a:solidFill>
            <a:srgbClr val="F270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109087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[1] 치과재료학 (제9판), 한국치과재료학교수협의회, 군자출판사, 263-277p.</a:t>
            </a: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[2] ISO 9917-1:2007. Dentistry — Water-based cements — Part 1: Powder/liquid acid-base cements. International Organization for Standardization.</a:t>
            </a: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[3] Windeler AS. The use of film thickness to measure working time of zinc phosphate cements. J Dent Res. 1978;57(5):649-653.</a:t>
            </a: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[4] Norman RD, Swartz ML, Phillips RW. Studies on film thickness, solubility, and marginal leakage of dental cements. J Dent Res. 1963;42(4):950-959.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2026-09-29T02:15:46Z</dcterms:created>
  <dcterms:modified xsi:type="dcterms:W3CDTF">2026-09-29T02:15:46Z</dcterms:modified>
</cp:coreProperties>
</file>