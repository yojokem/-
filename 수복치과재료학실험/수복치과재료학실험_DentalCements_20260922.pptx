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맑은 고딕"/>
              </a:defRPr>
            </a:pPr>
            <a:r>
              <a:rPr sz="1200" b="0" i="0" u="none" strike="noStrike">
                <a:solidFill>
                  <a:srgbClr val="1B3A5C"/>
                </a:solidFill>
                <a:latin typeface="맑은 고딕"/>
              </a:rPr>
              <a:t>Setting time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6"/>
                <c:pt idx="0">
                  <c:v>4.02</c:v>
                </c:pt>
                <c:pt idx="1">
                  <c:v>3.85</c:v>
                </c:pt>
                <c:pt idx="2">
                  <c:v>2.73</c:v>
                </c:pt>
                <c:pt idx="3">
                  <c:v>2.17</c:v>
                </c:pt>
                <c:pt idx="4">
                  <c:v>4.04</c:v>
                </c:pt>
                <c:pt idx="5">
                  <c:v>1.58</c:v>
                </c:pt>
              </c:numLit>
            </c:plus>
            <c:minus>
              <c:numLit>
                <c:formatCode>General</c:formatCode>
                <c:ptCount val="6"/>
                <c:pt idx="0">
                  <c:v>4.02</c:v>
                </c:pt>
                <c:pt idx="1">
                  <c:v>3.85</c:v>
                </c:pt>
                <c:pt idx="2">
                  <c:v>2.73</c:v>
                </c:pt>
                <c:pt idx="3">
                  <c:v>2.17</c:v>
                </c:pt>
                <c:pt idx="4">
                  <c:v>4.04</c:v>
                </c:pt>
                <c:pt idx="5">
                  <c:v>1.58</c:v>
                </c:pt>
              </c:numLit>
            </c:minus>
            <c:spPr>
              <a:ln w="9525">
                <a:solidFill>
                  <a:srgbClr val="5B6B7A"/>
                </a:solidFill>
              </a:ln>
            </c:spPr>
          </c:errBar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Sheet1!$B$2:$B$7</c:f>
              <c:numCache>
                <c:formatCode>General</c:formatCode>
                <c:ptCount val="6"/>
                <c:pt idx="0">
                  <c:v>13.21</c:v>
                </c:pt>
                <c:pt idx="1">
                  <c:v>11.22</c:v>
                </c:pt>
                <c:pt idx="2">
                  <c:v>7.67</c:v>
                </c:pt>
                <c:pt idx="3">
                  <c:v>10.12</c:v>
                </c:pt>
                <c:pt idx="4">
                  <c:v>10.29</c:v>
                </c:pt>
                <c:pt idx="5">
                  <c:v>6.08</c:v>
                </c:pt>
              </c:numCache>
            </c:numRef>
          </c:val>
        </c:ser>
        <c:ser>
          <c:idx val="1"/>
          <c:order val="1"/>
          <c:tx>
            <c:strRef>
              <c:f>Sheet1!$C$1</c:f>
              <c:strCache>
                <c:ptCount val="1"/>
                <c:pt idx="0">
                  <c:v>우리 조(A2)</c:v>
                </c:pt>
              </c:strCache>
            </c:strRef>
          </c:tx>
          <c:spPr>
            <a:solidFill>
              <a:srgbClr val="4A90C2"/>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Sheet1!$C$2:$C$7</c:f>
              <c:numCache>
                <c:formatCode>General</c:formatCode>
                <c:ptCount val="6"/>
                <c:pt idx="0">
                  <c:v>16.77</c:v>
                </c:pt>
                <c:pt idx="1">
                  <c:v>16.33</c:v>
                </c:pt>
                <c:pt idx="2">
                  <c:v>12.75</c:v>
                </c:pt>
                <c:pt idx="3">
                  <c:v>12.05</c:v>
                </c:pt>
                <c:pt idx="4">
                  <c:v>9.68</c:v>
                </c:pt>
                <c:pt idx="5">
                  <c:v>8.72</c:v>
                </c:pt>
              </c:numCache>
            </c:numRef>
          </c:val>
        </c:ser>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13(결과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8:50~9:35]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9:35~10:10]
피막도 결과도 짚고 가겠습니다. 이론상으로는 분액비가 높을수록 반죽이 되직해져서 압착할 때 잘 안 퍼지니까 피막도가 두꺼워질 거라 예상했는데, 반 평균을 보면 실제로 15% 낮음이 가장 얇고 15% 높음이 가장 두꺼워서 이론과 맞았습니다. 다만 세 조건 모두 표준편차가 워낙 커서, 이건 한 조의 이상치 영향이 크다는 걸 슬라이드 11에서 이미 말씀드렸으니 경향성만 참고해 주시면 됩니다.
냉각판 조건은 반 평균이 오히려 가장 얇게 나왔고, RMGI도 ZPC보다 얇은 편이었습니다. 저희 조 실측은 ZPC 세 조건에서는 반 평균보다 얇게, 냉각판에서는 오히려 평균보다 두껍게 나왔는데, 이것도 setting time 때와 비슷하게 저희가 측정하는 과정에서 판정 기준이 다른 조와 조금 달랐을 가능성이 있다고 봅니다.
[발표 팁] 슬라이드 11의 Film thickness 차트·각주(A3 이상치)를 화면에 띄워두고 같이 설명하면 좋음. SD가 커서 통계적으로 단정짓기 어렵다는 점을 솔직히 인정하고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10:10~10:25]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2026-2 〈수복치과재료학실험〉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2084832"/>
            <a:ext cx="457200" cy="457200"/>
          </a:xfrm>
          <a:prstGeom prst="roundRect">
            <a:avLst>
              <a:gd name="adj" fmla="val 20000"/>
            </a:avLst>
          </a:prstGeom>
          <a:solidFill>
            <a:srgbClr val="1B3A5C"/>
          </a:solidFill>
          <a:ln/>
        </p:spPr>
      </p:sp>
      <p:sp>
        <p:nvSpPr>
          <p:cNvPr id="6" name="Text 4"/>
          <p:cNvSpPr txBox="1"/>
          <p:nvPr/>
        </p:nvSpPr>
        <p:spPr>
          <a:xfrm>
            <a:off x="64008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834640"/>
            <a:ext cx="457200" cy="457200"/>
          </a:xfrm>
          <a:prstGeom prst="roundRect">
            <a:avLst>
              <a:gd name="adj" fmla="val 20000"/>
            </a:avLst>
          </a:prstGeom>
          <a:solidFill>
            <a:srgbClr val="1B3A5C"/>
          </a:solidFill>
          <a:ln/>
        </p:spPr>
      </p:sp>
      <p:sp>
        <p:nvSpPr>
          <p:cNvPr id="9" name="Text 7"/>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584448"/>
            <a:ext cx="457200" cy="457200"/>
          </a:xfrm>
          <a:prstGeom prst="roundRect">
            <a:avLst>
              <a:gd name="adj" fmla="val 20000"/>
            </a:avLst>
          </a:prstGeom>
          <a:solidFill>
            <a:srgbClr val="1B3A5C"/>
          </a:solidFill>
          <a:ln/>
        </p:spPr>
      </p:sp>
      <p:sp>
        <p:nvSpPr>
          <p:cNvPr id="12" name="Text 10"/>
          <p:cNvSpPr txBox="1"/>
          <p:nvPr/>
        </p:nvSpPr>
        <p:spPr>
          <a:xfrm>
            <a:off x="64008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334256"/>
            <a:ext cx="457200" cy="457200"/>
          </a:xfrm>
          <a:prstGeom prst="roundRect">
            <a:avLst>
              <a:gd name="adj" fmla="val 20000"/>
            </a:avLst>
          </a:prstGeom>
          <a:solidFill>
            <a:srgbClr val="1B3A5C"/>
          </a:solidFill>
          <a:ln/>
        </p:spPr>
      </p:sp>
      <p:sp>
        <p:nvSpPr>
          <p:cNvPr id="15" name="Text 13"/>
          <p:cNvSpPr txBox="1"/>
          <p:nvPr/>
        </p:nvSpPr>
        <p:spPr>
          <a:xfrm>
            <a:off x="64008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2084832"/>
            <a:ext cx="457200" cy="457200"/>
          </a:xfrm>
          <a:prstGeom prst="roundRect">
            <a:avLst>
              <a:gd name="adj" fmla="val 20000"/>
            </a:avLst>
          </a:prstGeom>
          <a:solidFill>
            <a:srgbClr val="4A90C2"/>
          </a:solidFill>
          <a:ln/>
        </p:spPr>
      </p:sp>
      <p:sp>
        <p:nvSpPr>
          <p:cNvPr id="19" name="Text 17"/>
          <p:cNvSpPr txBox="1"/>
          <p:nvPr/>
        </p:nvSpPr>
        <p:spPr>
          <a:xfrm>
            <a:off x="621792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834640"/>
            <a:ext cx="457200" cy="457200"/>
          </a:xfrm>
          <a:prstGeom prst="roundRect">
            <a:avLst>
              <a:gd name="adj" fmla="val 20000"/>
            </a:avLst>
          </a:prstGeom>
          <a:solidFill>
            <a:srgbClr val="4A90C2"/>
          </a:solidFill>
          <a:ln/>
        </p:spPr>
      </p:sp>
      <p:sp>
        <p:nvSpPr>
          <p:cNvPr id="22" name="Text 20"/>
          <p:cNvSpPr txBox="1"/>
          <p:nvPr/>
        </p:nvSpPr>
        <p:spPr>
          <a:xfrm>
            <a:off x="621792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584448"/>
            <a:ext cx="457200" cy="457200"/>
          </a:xfrm>
          <a:prstGeom prst="roundRect">
            <a:avLst>
              <a:gd name="adj" fmla="val 20000"/>
            </a:avLst>
          </a:prstGeom>
          <a:solidFill>
            <a:srgbClr val="4A90C2"/>
          </a:solidFill>
          <a:ln/>
        </p:spPr>
      </p:sp>
      <p:sp>
        <p:nvSpPr>
          <p:cNvPr id="25" name="Text 23"/>
          <p:cNvSpPr txBox="1"/>
          <p:nvPr/>
        </p:nvSpPr>
        <p:spPr>
          <a:xfrm>
            <a:off x="621792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334256"/>
            <a:ext cx="457200" cy="457200"/>
          </a:xfrm>
          <a:prstGeom prst="roundRect">
            <a:avLst>
              <a:gd name="adj" fmla="val 20000"/>
            </a:avLst>
          </a:prstGeom>
          <a:solidFill>
            <a:srgbClr val="4A90C2"/>
          </a:solidFill>
          <a:ln/>
        </p:spPr>
      </p:sp>
      <p:sp>
        <p:nvSpPr>
          <p:cNvPr id="28" name="Text 26"/>
          <p:cNvSpPr txBox="1"/>
          <p:nvPr/>
        </p:nvSpPr>
        <p:spPr>
          <a:xfrm>
            <a:off x="621792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B3A5C"/>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4A90C2"/>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B3A5C"/>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4A90C2"/>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B3A5C"/>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B3A5C"/>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3" name="Image 0" descr="/home/user/-/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DCE3EA"/>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B3A5C"/>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1" name="Image 1" descr="/home/user/-/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DCE3EA"/>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 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Net setting time(순경화 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mixing 종료(합착) 기준  † mixing 시작 기준  ‡ 수복물 장착 이후 최종 마무리 가능 시점</a:t>
            </a:r>
            <a:endParaRPr lang="en-US" sz="900" dirty="0"/>
          </a:p>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제품마다 기준 시점이 다르므로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9월 22일 A분반 실험</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분액비의 차이가 경화 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Slide glass 2매 × 2 set</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피막도 측정 장치 (하중장치, 조립 전)</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재료</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조건</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Scoop / Drop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15</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높음(High)</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낮음(Low)</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18</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 + 냉각판</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9</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GIC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6</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RMGI</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1:1 auto-mixing tip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가급적 빠른 시간 내에 혼합 완료</a:t>
            </a:r>
            <a:endParaRPr lang="en-US" sz="150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Molding after Mixing</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② — Setting time / Film thickness 측정</a:t>
            </a:r>
            <a:endParaRPr lang="en-US" sz="2400" dirty="0"/>
          </a:p>
        </p:txBody>
      </p:sp>
      <p:sp>
        <p:nvSpPr>
          <p:cNvPr id="4" name="Text 2"/>
          <p:cNvSpPr txBox="1"/>
          <p:nvPr/>
        </p:nvSpPr>
        <p:spPr>
          <a:xfrm>
            <a:off x="640080" y="164592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측정 절차</a:t>
            </a:r>
            <a:endParaRPr lang="en-US" sz="1450" dirty="0"/>
          </a:p>
        </p:txBody>
      </p:sp>
      <p:sp>
        <p:nvSpPr>
          <p:cNvPr id="5" name="Text 3"/>
          <p:cNvSpPr txBox="1"/>
          <p:nvPr/>
        </p:nvSpPr>
        <p:spPr>
          <a:xfrm>
            <a:off x="640080" y="2057400"/>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검정 사각 금속 주형을 Al foil로 덮은 metal block에 올리고 mix 완료 재료를 채움 → 표준 혼합 시간 종료 후부터 indentor를 수직으로 5초간 압입, 30초 간격 반복 → 예상 경화 시점 30초 전부터 10초 간격으로 전환 → 완전한 원형 압흔이 안 남는 시점을 기록</a:t>
            </a:r>
            <a:endParaRPr lang="en-US" sz="1500" dirty="0"/>
          </a:p>
        </p:txBody>
      </p:sp>
      <p:sp>
        <p:nvSpPr>
          <p:cNvPr id="6" name="Text 4"/>
          <p:cNvSpPr txBox="1"/>
          <p:nvPr/>
        </p:nvSpPr>
        <p:spPr>
          <a:xfrm>
            <a:off x="640080" y="411480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측정 절차</a:t>
            </a:r>
            <a:endParaRPr lang="en-US" sz="1450" dirty="0"/>
          </a:p>
        </p:txBody>
      </p:sp>
      <p:sp>
        <p:nvSpPr>
          <p:cNvPr id="7" name="Text 5"/>
          <p:cNvSpPr txBox="1"/>
          <p:nvPr/>
        </p:nvSpPr>
        <p:spPr>
          <a:xfrm>
            <a:off x="640080" y="4526280"/>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유리판 2매를 포개어 접촉 상태 두께 선측정(A) → 혼합 종료 cement 0.10mL을 유리판 사이 중앙에 위치 → 작업 시간 10초 전부터 하중 장치로 150N을 1분간 적용 → 재측정(B) → 피막도 = B − A</a:t>
            </a:r>
            <a:endParaRPr lang="en-US" sz="1500" dirty="0"/>
          </a:p>
        </p:txBody>
      </p:sp>
      <p:pic>
        <p:nvPicPr>
          <p:cNvPr id="8" name="Image 0" descr="/home/user/-/수복치과재료학실험/dental_photos/insert/photo_02.jpg">    </p:cNvPr>
          <p:cNvPicPr>
            <a:picLocks noChangeAspect="1"/>
          </p:cNvPicPr>
          <p:nvPr/>
        </p:nvPicPr>
        <p:blipFill>
          <a:blip r:embed="rId1"/>
          <a:srcRect l="0" r="0" t="0" b="0"/>
          <a:stretch/>
        </p:blipFill>
        <p:spPr>
          <a:xfrm>
            <a:off x="8595360" y="1645920"/>
            <a:ext cx="2313432" cy="1735074"/>
          </a:xfrm>
          <a:prstGeom prst="rect">
            <a:avLst/>
          </a:prstGeom>
        </p:spPr>
      </p:pic>
      <p:sp>
        <p:nvSpPr>
          <p:cNvPr id="9" name="Shape 6"/>
          <p:cNvSpPr/>
          <p:nvPr/>
        </p:nvSpPr>
        <p:spPr>
          <a:xfrm>
            <a:off x="8595360" y="1645920"/>
            <a:ext cx="2313432" cy="1735074"/>
          </a:xfrm>
          <a:prstGeom prst="rect">
            <a:avLst/>
          </a:prstGeom>
          <a:ln w="12700">
            <a:solidFill>
              <a:srgbClr val="DCE3EA"/>
            </a:solidFill>
            <a:prstDash val="solid"/>
          </a:ln>
        </p:spPr>
      </p:sp>
      <p:sp>
        <p:nvSpPr>
          <p:cNvPr id="10" name="Text 7"/>
          <p:cNvSpPr txBox="1"/>
          <p:nvPr/>
        </p:nvSpPr>
        <p:spPr>
          <a:xfrm>
            <a:off x="8595360" y="3408426"/>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Scene applying cement for measuring film thickness</a:t>
            </a:r>
            <a:endParaRPr lang="en-US" sz="1100" dirty="0"/>
          </a:p>
        </p:txBody>
      </p:sp>
      <p:sp>
        <p:nvSpPr>
          <p:cNvPr id="11" name="Text 8"/>
          <p:cNvSpPr txBox="1"/>
          <p:nvPr/>
        </p:nvSpPr>
        <p:spPr>
          <a:xfrm>
            <a:off x="640080" y="6263640"/>
            <a:ext cx="10908792" cy="365760"/>
          </a:xfrm>
          <a:prstGeom prst="rect">
            <a:avLst/>
          </a:prstGeom>
          <a:noFill/>
          <a:ln/>
        </p:spPr>
        <p:txBody>
          <a:bodyPr wrap="square" lIns="0" tIns="0" rIns="0" bIns="0" rtlCol="0" anchor="ctr"/>
          <a:lstStyle/>
          <a:p>
            <a:pPr indent="0" marL="0">
              <a:lnSpc>
                <a:spcPct val="120000"/>
              </a:lnSpc>
              <a:buNone/>
            </a:pPr>
            <a:r>
              <a:rPr lang="en-US" sz="1050" i="1" dirty="0">
                <a:solidFill>
                  <a:srgbClr val="5B6B7A"/>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실질량은 유사한 것으로 간주한다.</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조건별 경화 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 Setting time(경화 시간) = Total time − Mixing time.</a:t>
            </a:r>
            <a:endParaRPr lang="en-US" sz="1100" dirty="0"/>
          </a:p>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ZPC, PC, GIC는 표준 혼합 시간으로 간주. RMGI는 auto-mixing으로 0으로 간주.</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데이터 종합 비교 — A분반</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737360"/>
            <a:ext cx="10908792" cy="96012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00" dirty="0"/>
          </a:p>
        </p:txBody>
      </p:sp>
      <p:sp>
        <p:nvSpPr>
          <p:cNvPr id="6" name="Text 4"/>
          <p:cNvSpPr txBox="1"/>
          <p:nvPr/>
        </p:nvSpPr>
        <p:spPr>
          <a:xfrm>
            <a:off x="640080" y="27889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108960"/>
            <a:ext cx="10908792" cy="9144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00" dirty="0"/>
          </a:p>
        </p:txBody>
      </p:sp>
      <p:sp>
        <p:nvSpPr>
          <p:cNvPr id="8" name="Shape 6"/>
          <p:cNvSpPr/>
          <p:nvPr/>
        </p:nvSpPr>
        <p:spPr>
          <a:xfrm>
            <a:off x="640080" y="4114800"/>
            <a:ext cx="10908792" cy="2240280"/>
          </a:xfrm>
          <a:prstGeom prst="roundRect">
            <a:avLst>
              <a:gd name="adj" fmla="val 4082"/>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9" name="Chart 0" descr=""/>
          <p:cNvGraphicFramePr/>
          <p:nvPr/>
        </p:nvGraphicFramePr>
        <p:xfrm>
          <a:off x="822960" y="4224528"/>
          <a:ext cx="10543032" cy="16002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22960" y="5888736"/>
            <a:ext cx="10543032"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맑은 고딕" pitchFamily="34" charset="0"/>
                <a:ea typeface="맑은 고딕" pitchFamily="34" charset="-122"/>
                <a:cs typeface="맑은 고딕" pitchFamily="34" charset="-120"/>
              </a:rPr>
              <a:t>※ 오차 막대는 전체 평균의 표준편차(SD) 1개. ZPC 15%↓ 13:13→16:46(+0.9 SD)  ·  ZPC 정상 11:13→16:20(+1.3 SD)  ·  ZPC 15%↑ 7:40→12:45(+1.9 SD)  ·  ZPC 15%↑+냉각판 10:07→12:03(+0.9 SD)  ·  PC 정상 10:17→9:41(−0.2 SD)  ·  GIC 정상 6:05→8:43(+1.7 SD)</a:t>
            </a:r>
            <a:endParaRPr lang="en-US" sz="750" dirty="0"/>
          </a:p>
        </p:txBody>
      </p:sp>
      <p:sp>
        <p:nvSpPr>
          <p:cNvPr id="11"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① — Setting Time</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경화 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 시간도 길어질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 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② — Film Thickness</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피막도</a:t>
            </a:r>
            <a:endParaRPr lang="en-US" sz="1450" dirty="0"/>
          </a:p>
        </p:txBody>
      </p:sp>
      <p:sp>
        <p:nvSpPr>
          <p:cNvPr id="5" name="Text 3"/>
          <p:cNvSpPr txBox="1"/>
          <p:nvPr/>
        </p:nvSpPr>
        <p:spPr>
          <a:xfrm>
            <a:off x="640080" y="1920240"/>
            <a:ext cx="10908792" cy="141732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반죽의 점도가 증가해 압착 시 유동성이 떨어지고, 그만큼 얇게 눌리지 못해 피막도가 커질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실측(반 평균): 이론과 부합 — 15%↓(0.035mm) &lt; 정상(0.047mm) &lt; 15%↑(0.049mm) 순으로 분액비가 높을수록 피막도 증가. 다만 세 조건 모두 표준편차가 매우 커서(한 조(A3)의 이상치 영향, 슬라이드 11 참고) 경향성 해석에는 주의가 필요함</a:t>
            </a:r>
            <a:endParaRPr lang="en-US" sz="1300" dirty="0"/>
          </a:p>
        </p:txBody>
      </p:sp>
      <p:sp>
        <p:nvSpPr>
          <p:cNvPr id="6" name="Text 4"/>
          <p:cNvSpPr txBox="1"/>
          <p:nvPr/>
        </p:nvSpPr>
        <p:spPr>
          <a:xfrm>
            <a:off x="640080" y="35204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냉각판·RMGI 효과, 그리고 우리 조(A2)의 위치</a:t>
            </a:r>
            <a:endParaRPr lang="en-US" sz="1450" dirty="0"/>
          </a:p>
        </p:txBody>
      </p:sp>
      <p:sp>
        <p:nvSpPr>
          <p:cNvPr id="7" name="Text 5"/>
          <p:cNvSpPr txBox="1"/>
          <p:nvPr/>
        </p:nvSpPr>
        <p:spPr>
          <a:xfrm>
            <a:off x="640080" y="3867912"/>
            <a:ext cx="10908792" cy="18288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냉각판 조건은 반 평균 피막도(0.012mm)가 나머지 ZPC 조건보다 훨씬 얇게 나옴 — 낮은 온도가 압착 시 유동성을 오히려 개선했을 가능성(표본이 적어 단정하기는 어려움). RMGI(0.015mm)도 ZPC 대비 얇은 편 — 레진 개량형 특유의 낮은 초기 점도 영향으로 추정</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우리 조 실측은 ZPC 세 조건(정상·15%↑·15%↓) 모두 반 평균보다 얇게 나왔고(−0.5~−0.7 SD), 냉각판만 평균보다 두껍게 나옴(+1.1 SD) — Setting time과 마찬가지로 개인별 측정 판정 차이(글라스판 접촉 상태 확인, 하중 적용 타이밍 등)가 영향을 줬을 가능성을 고려할 수 있음</a:t>
            </a:r>
            <a:endParaRPr lang="en-US" sz="1300" dirty="0"/>
          </a:p>
        </p:txBody>
      </p:sp>
      <p:sp>
        <p:nvSpPr>
          <p:cNvPr id="8" name="Shape 6"/>
          <p:cNvSpPr/>
          <p:nvPr/>
        </p:nvSpPr>
        <p:spPr>
          <a:xfrm>
            <a:off x="640080" y="5897880"/>
            <a:ext cx="10908792" cy="731520"/>
          </a:xfrm>
          <a:prstGeom prst="roundRect">
            <a:avLst>
              <a:gd name="adj" fmla="val 10000"/>
            </a:avLst>
          </a:prstGeom>
          <a:solidFill>
            <a:srgbClr val="EAF2EE"/>
          </a:solidFill>
          <a:ln/>
        </p:spPr>
      </p:sp>
      <p:sp>
        <p:nvSpPr>
          <p:cNvPr id="9" name="Text 7"/>
          <p:cNvSpPr txBox="1"/>
          <p:nvPr/>
        </p:nvSpPr>
        <p:spPr>
          <a:xfrm>
            <a:off x="868680" y="6016752"/>
            <a:ext cx="10451592" cy="50292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정리: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Setting time과 마찬가지로 피막도도 분액비·냉각판 조건에 따라 유의한 차이를 보이며, 개별 조의 측정·판정 방식 차이가 재료 자체의 특성만큼이나 결과에 영향을 줄 수 있음을 시사함.</a:t>
            </a:r>
            <a:endParaRPr lang="en-US" sz="11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 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 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2026-09-29T09:38:10Z</dcterms:created>
  <dcterms:modified xsi:type="dcterms:W3CDTF">2026-09-29T09:38:10Z</dcterms:modified>
</cp:coreProperties>
</file>