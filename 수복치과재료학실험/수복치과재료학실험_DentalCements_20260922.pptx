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14B3F"/>
                </a:solidFill>
                <a:latin typeface="맑은 고딕"/>
              </a:defRPr>
            </a:pPr>
            <a:r>
              <a:rPr sz="1250" b="0" i="0" u="none" strike="noStrike">
                <a:solidFill>
                  <a:srgbClr val="114B3F"/>
                </a:solidFill>
                <a:latin typeface="맑은 고딕"/>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14B3F"/>
            </a:solidFill>
            <a:effectLst/>
          </c:spPr>
          <c:invertIfNegative val="0"/>
          <c:dLbls>
            <c:numFmt formatCode="0.0" sourceLinked="0"/>
            <c:txPr>
              <a:bodyPr/>
              <a:lstStyle/>
              <a:p>
                <a:pPr>
                  <a:defRPr b="0" i="0" strike="noStrike" sz="1050" u="none">
                    <a:solidFill>
                      <a:srgbClr val="1C2321"/>
                    </a:solidFill>
                    <a:latin typeface="Arial"/>
                  </a:defRPr>
                </a:pPr>
              </a:p>
            </c:txPr>
            <c:showLegendKey val="0"/>
            <c:showVal val="1"/>
            <c:showCatName val="0"/>
            <c:showSerName val="0"/>
            <c:showPercent val="0"/>
            <c:showBubbleSize val="0"/>
            <c:showLeaderLines val="0"/>
          </c:dLbls>
          <c:dPt>
            <c:idx val="0"/>
            <c:invertIfNegative val="0"/>
            <c:bubble3D val="0"/>
            <c:spPr>
              <a:solidFill>
                <a:srgbClr val="114B3F"/>
              </a:solidFill>
              <a:effectLst/>
            </c:spPr>
          </c:dPt>
          <c:dPt>
            <c:idx val="1"/>
            <c:invertIfNegative val="0"/>
            <c:bubble3D val="0"/>
            <c:spPr>
              <a:solidFill>
                <a:srgbClr val="114B3F"/>
              </a:solidFill>
              <a:effectLst/>
            </c:spPr>
          </c:dPt>
          <c:dPt>
            <c:idx val="2"/>
            <c:invertIfNegative val="0"/>
            <c:bubble3D val="0"/>
            <c:spPr>
              <a:solidFill>
                <a:srgbClr val="114B3F"/>
              </a:solidFill>
              <a:effectLst/>
            </c:spPr>
          </c:dPt>
          <c:dPt>
            <c:idx val="3"/>
            <c:invertIfNegative val="0"/>
            <c:bubble3D val="0"/>
            <c:spPr>
              <a:solidFill>
                <a:srgbClr val="114B3F"/>
              </a:solidFill>
              <a:effectLst/>
            </c:spPr>
          </c:dPt>
          <c:dPt>
            <c:idx val="4"/>
            <c:invertIfNegative val="0"/>
            <c:bubble3D val="0"/>
            <c:spPr>
              <a:solidFill>
                <a:srgbClr val="114B3F"/>
              </a:solidFill>
              <a:effectLst/>
            </c:spPr>
          </c:dPt>
          <c:dPt>
            <c:idx val="5"/>
            <c:invertIfNegative val="0"/>
            <c:bubble3D val="0"/>
            <c:spPr>
              <a:solidFill>
                <a:srgbClr val="114B3F"/>
              </a:solidFill>
              <a:effectLst/>
            </c:spPr>
          </c:dPt>
          <c:dPt>
            <c:idx val="6"/>
            <c:invertIfNegative val="0"/>
            <c:bubble3D val="0"/>
            <c:spPr>
              <a:solidFill>
                <a:srgbClr val="F2704A"/>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321"/>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7568"/>
                </a:solidFill>
                <a:latin typeface="맑은 고딕"/>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4DE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56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14B3F"/>
                </a:solidFill>
                <a:latin typeface="맑은 고딕"/>
              </a:defRPr>
            </a:pPr>
            <a:r>
              <a:rPr sz="1250" b="0" i="0" u="none" strike="noStrike">
                <a:solidFill>
                  <a:srgbClr val="114B3F"/>
                </a:solidFill>
                <a:latin typeface="맑은 고딕"/>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F2704A"/>
            </a:solidFill>
            <a:effectLst/>
          </c:spPr>
          <c:invertIfNegative val="0"/>
          <c:dLbls>
            <c:numFmt formatCode="0.000" sourceLinked="0"/>
            <c:txPr>
              <a:bodyPr/>
              <a:lstStyle/>
              <a:p>
                <a:pPr>
                  <a:defRPr b="0" i="0" strike="noStrike" sz="1050" u="none">
                    <a:solidFill>
                      <a:srgbClr val="1C2321"/>
                    </a:solidFill>
                    <a:latin typeface="Arial"/>
                  </a:defRPr>
                </a:pPr>
              </a:p>
            </c:txPr>
            <c:showLegendKey val="0"/>
            <c:showVal val="1"/>
            <c:showCatName val="0"/>
            <c:showSerName val="0"/>
            <c:showPercent val="0"/>
            <c:showBubbleSize val="0"/>
            <c:showLeaderLines val="0"/>
          </c:dLbls>
          <c:dPt>
            <c:idx val="0"/>
            <c:invertIfNegative val="0"/>
            <c:bubble3D val="0"/>
            <c:spPr>
              <a:solidFill>
                <a:srgbClr val="F2704A"/>
              </a:solidFill>
              <a:effectLst/>
            </c:spPr>
          </c:dPt>
          <c:dPt>
            <c:idx val="1"/>
            <c:invertIfNegative val="0"/>
            <c:bubble3D val="0"/>
            <c:spPr>
              <a:solidFill>
                <a:srgbClr val="F2704A"/>
              </a:solidFill>
              <a:effectLst/>
            </c:spPr>
          </c:dPt>
          <c:dPt>
            <c:idx val="2"/>
            <c:invertIfNegative val="0"/>
            <c:bubble3D val="0"/>
            <c:spPr>
              <a:solidFill>
                <a:srgbClr val="F2704A"/>
              </a:solidFill>
              <a:effectLst/>
            </c:spPr>
          </c:dPt>
          <c:dPt>
            <c:idx val="3"/>
            <c:invertIfNegative val="0"/>
            <c:bubble3D val="0"/>
            <c:spPr>
              <a:solidFill>
                <a:srgbClr val="F2704A"/>
              </a:solidFill>
              <a:effectLst/>
            </c:spPr>
          </c:dPt>
          <c:dPt>
            <c:idx val="4"/>
            <c:invertIfNegative val="0"/>
            <c:bubble3D val="0"/>
            <c:spPr>
              <a:solidFill>
                <a:srgbClr val="F2704A"/>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321"/>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B7568"/>
                </a:solidFill>
                <a:latin typeface="맑은 고딕"/>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E4DE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B756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4:45~6:00]
분액비 조건은 표에 정리한 대로 scoop·drop 비율을 조정했고, 혼합은 분말을 먼저 덜어놓고 액체를 한 곳에 모은 뒤 나눠 넣는 순서로 진행했습니다.
측정은, setting time의 경우 혼합 종료 90초 뒤부터 indentor로 30초 간격으로 눌러보다가 경화가 임박하면 10초 간격으로 좁혀서 완전한 원형 압흔이 안 남는 시점을 기록했고, film thickness는 유리판 두께를 먼저 재고(A) 시멘트를 끼운 뒤 150N을 10분간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12(결과 해석)의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8:50~9:45]
먼저 분액비와 경화시간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9:45~10:00]
정리하면, 분액비와 혼합 온도, 재료 종류 모두 dental cement의 경화시간과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10에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경화시간만으로 판단한 한계라고 솔직히 인정하는 게 가장 무난합니다. 냉각판은 분액비를 높게 쓰면서도 여유 있는 작업시간을 확보하기 위한 방법이라, 경화시간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5"/>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14B3F"/>
          </a:solidFill>
          <a:ln/>
        </p:spPr>
      </p:sp>
      <p:sp>
        <p:nvSpPr>
          <p:cNvPr id="3" name="Shape 1"/>
          <p:cNvSpPr/>
          <p:nvPr/>
        </p:nvSpPr>
        <p:spPr>
          <a:xfrm>
            <a:off x="8348472" y="-1828800"/>
            <a:ext cx="5943600" cy="5943600"/>
          </a:xfrm>
          <a:prstGeom prst="ellipse">
            <a:avLst/>
          </a:prstGeom>
          <a:solidFill>
            <a:srgbClr val="0B332A"/>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F2704A"/>
                </a:solidFill>
                <a:latin typeface="맑은 고딕" pitchFamily="34" charset="0"/>
                <a:ea typeface="맑은 고딕" pitchFamily="34" charset="-122"/>
                <a:cs typeface="맑은 고딕" pitchFamily="34" charset="-120"/>
              </a:rPr>
              <a:t>수복치과재료학실험 ·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맑은 고딕" pitchFamily="34" charset="0"/>
                <a:ea typeface="맑은 고딕" pitchFamily="34" charset="-122"/>
                <a:cs typeface="맑은 고딕"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F2704A"/>
                </a:solidFill>
                <a:latin typeface="맑은 고딕" pitchFamily="34" charset="0"/>
                <a:ea typeface="맑은 고딕" pitchFamily="34" charset="-122"/>
                <a:cs typeface="맑은 고딕" pitchFamily="34" charset="-120"/>
              </a:rPr>
              <a:t>실험일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2026. 9. 22 (화) · A2조
</a:t>
            </a:r>
            <a:pPr indent="0" marL="0">
              <a:lnSpc>
                <a:spcPct val="160000"/>
              </a:lnSpc>
              <a:buNone/>
            </a:pPr>
            <a:r>
              <a:rPr lang="en-US" sz="1500" b="1" dirty="0">
                <a:solidFill>
                  <a:srgbClr val="F2704A"/>
                </a:solidFill>
                <a:latin typeface="맑은 고딕" pitchFamily="34" charset="0"/>
                <a:ea typeface="맑은 고딕" pitchFamily="34" charset="-122"/>
                <a:cs typeface="맑은 고딕" pitchFamily="34" charset="-120"/>
              </a:rPr>
              <a:t>주작성자  </a:t>
            </a:r>
            <a:pPr indent="0" marL="0">
              <a:lnSpc>
                <a:spcPct val="160000"/>
              </a:lnSpc>
              <a:buNone/>
            </a:pPr>
            <a:r>
              <a:rPr lang="en-US" sz="1500" dirty="0">
                <a:solidFill>
                  <a:srgbClr val="FFFFFF"/>
                </a:solidFill>
                <a:latin typeface="맑은 고딕" pitchFamily="34" charset="0"/>
                <a:ea typeface="맑은 고딕" pitchFamily="34" charset="-122"/>
                <a:cs typeface="맑은 고딕" pitchFamily="34" charset="-120"/>
              </a:rPr>
              <a:t>김민서A 김민성
</a:t>
            </a:r>
            <a:pPr indent="0" marL="0">
              <a:lnSpc>
                <a:spcPct val="160000"/>
              </a:lnSpc>
              <a:buNone/>
            </a:pPr>
            <a:r>
              <a:rPr lang="en-US" sz="1300" dirty="0">
                <a:solidFill>
                  <a:srgbClr val="CFE0D8"/>
                </a:solidFill>
                <a:latin typeface="맑은 고딕" pitchFamily="34" charset="0"/>
                <a:ea typeface="맑은 고딕" pitchFamily="34" charset="-122"/>
                <a:cs typeface="맑은 고딕"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14B3F"/>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321"/>
                </a:solidFill>
                <a:latin typeface="맑은 고딕" pitchFamily="34" charset="0"/>
                <a:ea typeface="맑은 고딕" pitchFamily="34" charset="-122"/>
                <a:cs typeface="맑은 고딕"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F2704A"/>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321"/>
                </a:solidFill>
                <a:latin typeface="맑은 고딕" pitchFamily="34" charset="0"/>
                <a:ea typeface="맑은 고딕" pitchFamily="34" charset="-122"/>
                <a:cs typeface="맑은 고딕"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14B3F"/>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321"/>
                </a:solidFill>
                <a:latin typeface="맑은 고딕" pitchFamily="34" charset="0"/>
                <a:ea typeface="맑은 고딕" pitchFamily="34" charset="-122"/>
                <a:cs typeface="맑은 고딕"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F2704A"/>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321"/>
                </a:solidFill>
                <a:latin typeface="맑은 고딕" pitchFamily="34" charset="0"/>
                <a:ea typeface="맑은 고딕" pitchFamily="34" charset="-122"/>
                <a:cs typeface="맑은 고딕"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14B3F"/>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321"/>
                </a:solidFill>
                <a:latin typeface="맑은 고딕" pitchFamily="34" charset="0"/>
                <a:ea typeface="맑은 고딕" pitchFamily="34" charset="-122"/>
                <a:cs typeface="맑은 고딕"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Dental Cement의 용도와 유지 인자</a:t>
            </a:r>
            <a:endParaRPr lang="en-US" sz="2400" dirty="0"/>
          </a:p>
        </p:txBody>
      </p:sp>
      <p:sp>
        <p:nvSpPr>
          <p:cNvPr id="4" name="Text 2"/>
          <p:cNvSpPr txBox="1"/>
          <p:nvPr/>
        </p:nvSpPr>
        <p:spPr>
          <a:xfrm>
            <a:off x="640080" y="1554480"/>
            <a:ext cx="530352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Dental Cement의 용도</a:t>
            </a:r>
            <a:endParaRPr lang="en-US" sz="1450" dirty="0"/>
          </a:p>
        </p:txBody>
      </p:sp>
      <p:sp>
        <p:nvSpPr>
          <p:cNvPr id="5" name="Shape 3"/>
          <p:cNvSpPr/>
          <p:nvPr/>
        </p:nvSpPr>
        <p:spPr>
          <a:xfrm>
            <a:off x="640080" y="1965960"/>
            <a:ext cx="457200" cy="457200"/>
          </a:xfrm>
          <a:prstGeom prst="roundRect">
            <a:avLst>
              <a:gd name="adj" fmla="val 20000"/>
            </a:avLst>
          </a:prstGeom>
          <a:solidFill>
            <a:srgbClr val="114B3F"/>
          </a:solidFill>
          <a:ln/>
        </p:spPr>
      </p:sp>
      <p:sp>
        <p:nvSpPr>
          <p:cNvPr id="6" name="Text 4"/>
          <p:cNvSpPr txBox="1"/>
          <p:nvPr/>
        </p:nvSpPr>
        <p:spPr>
          <a:xfrm>
            <a:off x="640080" y="196596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Luting agent — 인레이, 금관, 수복물, 교정장치 등의 합착·고정</a:t>
            </a:r>
            <a:endParaRPr lang="en-US" sz="1300" dirty="0"/>
          </a:p>
        </p:txBody>
      </p:sp>
      <p:sp>
        <p:nvSpPr>
          <p:cNvPr id="8" name="Shape 6"/>
          <p:cNvSpPr/>
          <p:nvPr/>
        </p:nvSpPr>
        <p:spPr>
          <a:xfrm>
            <a:off x="640080" y="2715768"/>
            <a:ext cx="457200" cy="457200"/>
          </a:xfrm>
          <a:prstGeom prst="roundRect">
            <a:avLst>
              <a:gd name="adj" fmla="val 20000"/>
            </a:avLst>
          </a:prstGeom>
          <a:solidFill>
            <a:srgbClr val="114B3F"/>
          </a:solidFill>
          <a:ln/>
        </p:spPr>
      </p:sp>
      <p:sp>
        <p:nvSpPr>
          <p:cNvPr id="9" name="Text 7"/>
          <p:cNvSpPr txBox="1"/>
          <p:nvPr/>
        </p:nvSpPr>
        <p:spPr>
          <a:xfrm>
            <a:off x="640080" y="27157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Cement base — 치수 보호 및 수복물 하부 구조(와동 이장재·베이스)</a:t>
            </a:r>
            <a:endParaRPr lang="en-US" sz="1300" dirty="0"/>
          </a:p>
        </p:txBody>
      </p:sp>
      <p:sp>
        <p:nvSpPr>
          <p:cNvPr id="11" name="Shape 9"/>
          <p:cNvSpPr/>
          <p:nvPr/>
        </p:nvSpPr>
        <p:spPr>
          <a:xfrm>
            <a:off x="640080" y="3465576"/>
            <a:ext cx="457200" cy="457200"/>
          </a:xfrm>
          <a:prstGeom prst="roundRect">
            <a:avLst>
              <a:gd name="adj" fmla="val 20000"/>
            </a:avLst>
          </a:prstGeom>
          <a:solidFill>
            <a:srgbClr val="114B3F"/>
          </a:solidFill>
          <a:ln/>
        </p:spPr>
      </p:sp>
      <p:sp>
        <p:nvSpPr>
          <p:cNvPr id="12" name="Text 10"/>
          <p:cNvSpPr txBox="1"/>
          <p:nvPr/>
        </p:nvSpPr>
        <p:spPr>
          <a:xfrm>
            <a:off x="640080" y="34655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Restorative materials — 형성된 와동의 영구/임시 충전</a:t>
            </a:r>
            <a:endParaRPr lang="en-US" sz="1300" dirty="0"/>
          </a:p>
        </p:txBody>
      </p:sp>
      <p:sp>
        <p:nvSpPr>
          <p:cNvPr id="14" name="Shape 12"/>
          <p:cNvSpPr/>
          <p:nvPr/>
        </p:nvSpPr>
        <p:spPr>
          <a:xfrm>
            <a:off x="640080" y="4215384"/>
            <a:ext cx="457200" cy="457200"/>
          </a:xfrm>
          <a:prstGeom prst="roundRect">
            <a:avLst>
              <a:gd name="adj" fmla="val 20000"/>
            </a:avLst>
          </a:prstGeom>
          <a:solidFill>
            <a:srgbClr val="114B3F"/>
          </a:solidFill>
          <a:ln/>
        </p:spPr>
      </p:sp>
      <p:sp>
        <p:nvSpPr>
          <p:cNvPr id="15" name="Text 13"/>
          <p:cNvSpPr txBox="1"/>
          <p:nvPr/>
        </p:nvSpPr>
        <p:spPr>
          <a:xfrm>
            <a:off x="640080" y="42153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수술용 드레싱재</a:t>
            </a:r>
            <a:endParaRPr lang="en-US" sz="1300" dirty="0"/>
          </a:p>
        </p:txBody>
      </p:sp>
      <p:sp>
        <p:nvSpPr>
          <p:cNvPr id="17" name="Text 15"/>
          <p:cNvSpPr txBox="1"/>
          <p:nvPr/>
        </p:nvSpPr>
        <p:spPr>
          <a:xfrm>
            <a:off x="6217920" y="1554480"/>
            <a:ext cx="530352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Cement의 유지(retention) 인자</a:t>
            </a:r>
            <a:endParaRPr lang="en-US" sz="1450" dirty="0"/>
          </a:p>
        </p:txBody>
      </p:sp>
      <p:sp>
        <p:nvSpPr>
          <p:cNvPr id="18" name="Shape 16"/>
          <p:cNvSpPr/>
          <p:nvPr/>
        </p:nvSpPr>
        <p:spPr>
          <a:xfrm>
            <a:off x="6217920" y="1965960"/>
            <a:ext cx="457200" cy="457200"/>
          </a:xfrm>
          <a:prstGeom prst="roundRect">
            <a:avLst>
              <a:gd name="adj" fmla="val 20000"/>
            </a:avLst>
          </a:prstGeom>
          <a:solidFill>
            <a:srgbClr val="F2704A"/>
          </a:solidFill>
          <a:ln/>
        </p:spPr>
      </p:sp>
      <p:sp>
        <p:nvSpPr>
          <p:cNvPr id="19" name="Text 17"/>
          <p:cNvSpPr txBox="1"/>
          <p:nvPr/>
        </p:nvSpPr>
        <p:spPr>
          <a:xfrm>
            <a:off x="6217920" y="196596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96596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피막도(film thickness)가 작을수록 우수</a:t>
            </a:r>
            <a:endParaRPr lang="en-US" sz="1300" dirty="0"/>
          </a:p>
        </p:txBody>
      </p:sp>
      <p:sp>
        <p:nvSpPr>
          <p:cNvPr id="21" name="Shape 19"/>
          <p:cNvSpPr/>
          <p:nvPr/>
        </p:nvSpPr>
        <p:spPr>
          <a:xfrm>
            <a:off x="6217920" y="2715768"/>
            <a:ext cx="457200" cy="457200"/>
          </a:xfrm>
          <a:prstGeom prst="roundRect">
            <a:avLst>
              <a:gd name="adj" fmla="val 20000"/>
            </a:avLst>
          </a:prstGeom>
          <a:solidFill>
            <a:srgbClr val="F2704A"/>
          </a:solidFill>
          <a:ln/>
        </p:spPr>
      </p:sp>
      <p:sp>
        <p:nvSpPr>
          <p:cNvPr id="22" name="Text 20"/>
          <p:cNvSpPr txBox="1"/>
          <p:nvPr/>
        </p:nvSpPr>
        <p:spPr>
          <a:xfrm>
            <a:off x="6217920" y="27157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715768"/>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기계적 성질이 우수해야 함</a:t>
            </a:r>
            <a:endParaRPr lang="en-US" sz="1300" dirty="0"/>
          </a:p>
        </p:txBody>
      </p:sp>
      <p:sp>
        <p:nvSpPr>
          <p:cNvPr id="24" name="Shape 22"/>
          <p:cNvSpPr/>
          <p:nvPr/>
        </p:nvSpPr>
        <p:spPr>
          <a:xfrm>
            <a:off x="6217920" y="3465576"/>
            <a:ext cx="457200" cy="457200"/>
          </a:xfrm>
          <a:prstGeom prst="roundRect">
            <a:avLst>
              <a:gd name="adj" fmla="val 20000"/>
            </a:avLst>
          </a:prstGeom>
          <a:solidFill>
            <a:srgbClr val="F2704A"/>
          </a:solidFill>
          <a:ln/>
        </p:spPr>
      </p:sp>
      <p:sp>
        <p:nvSpPr>
          <p:cNvPr id="25" name="Text 23"/>
          <p:cNvSpPr txBox="1"/>
          <p:nvPr/>
        </p:nvSpPr>
        <p:spPr>
          <a:xfrm>
            <a:off x="6217920" y="34655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46557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경화 중 크기 변화(수축·팽창)가 작아야 함</a:t>
            </a:r>
            <a:endParaRPr lang="en-US" sz="1300" dirty="0"/>
          </a:p>
        </p:txBody>
      </p:sp>
      <p:sp>
        <p:nvSpPr>
          <p:cNvPr id="27" name="Shape 25"/>
          <p:cNvSpPr/>
          <p:nvPr/>
        </p:nvSpPr>
        <p:spPr>
          <a:xfrm>
            <a:off x="6217920" y="4215384"/>
            <a:ext cx="457200" cy="457200"/>
          </a:xfrm>
          <a:prstGeom prst="roundRect">
            <a:avLst>
              <a:gd name="adj" fmla="val 20000"/>
            </a:avLst>
          </a:prstGeom>
          <a:solidFill>
            <a:srgbClr val="F2704A"/>
          </a:solidFill>
          <a:ln/>
        </p:spPr>
      </p:sp>
      <p:sp>
        <p:nvSpPr>
          <p:cNvPr id="28" name="Text 26"/>
          <p:cNvSpPr txBox="1"/>
          <p:nvPr/>
        </p:nvSpPr>
        <p:spPr>
          <a:xfrm>
            <a:off x="6217920" y="42153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421538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321"/>
                </a:solidFill>
                <a:latin typeface="맑은 고딕" pitchFamily="34" charset="0"/>
                <a:ea typeface="맑은 고딕" pitchFamily="34" charset="-122"/>
                <a:cs typeface="맑은 고딕" pitchFamily="34" charset="-120"/>
              </a:rPr>
              <a:t>치질과 화학적 결합능이 있으면 우수</a:t>
            </a:r>
            <a:endParaRPr lang="en-US" sz="1300" dirty="0"/>
          </a:p>
        </p:txBody>
      </p:sp>
      <p:sp>
        <p:nvSpPr>
          <p:cNvPr id="30" name="Text 28"/>
          <p:cNvSpPr txBox="1"/>
          <p:nvPr/>
        </p:nvSpPr>
        <p:spPr>
          <a:xfrm>
            <a:off x="640080" y="484632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Cement의 분류 (결합 기전 기준)</a:t>
            </a:r>
            <a:endParaRPr lang="en-US" sz="1450" dirty="0"/>
          </a:p>
        </p:txBody>
      </p:sp>
      <p:sp>
        <p:nvSpPr>
          <p:cNvPr id="31" name="Shape 29"/>
          <p:cNvSpPr/>
          <p:nvPr/>
        </p:nvSpPr>
        <p:spPr>
          <a:xfrm>
            <a:off x="640080"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413248"/>
            <a:ext cx="347472" cy="347472"/>
          </a:xfrm>
          <a:prstGeom prst="roundRect">
            <a:avLst>
              <a:gd name="adj" fmla="val 21053"/>
            </a:avLst>
          </a:prstGeom>
          <a:solidFill>
            <a:srgbClr val="114B3F"/>
          </a:solidFill>
          <a:ln/>
        </p:spPr>
      </p:sp>
      <p:sp>
        <p:nvSpPr>
          <p:cNvPr id="33" name="Text 31"/>
          <p:cNvSpPr txBox="1"/>
          <p:nvPr/>
        </p:nvSpPr>
        <p:spPr>
          <a:xfrm>
            <a:off x="777240"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4" name="Text 32"/>
          <p:cNvSpPr txBox="1"/>
          <p:nvPr/>
        </p:nvSpPr>
        <p:spPr>
          <a:xfrm>
            <a:off x="777240" y="5815584"/>
            <a:ext cx="2281428" cy="292608"/>
          </a:xfrm>
          <a:prstGeom prst="rect">
            <a:avLst/>
          </a:prstGeom>
          <a:noFill/>
          <a:ln/>
        </p:spPr>
        <p:txBody>
          <a:bodyPr wrap="square" lIns="0" tIns="0" rIns="0" bIns="0" rtlCol="0" anchor="ctr"/>
          <a:lstStyle/>
          <a:p>
            <a:pPr indent="0" marL="0">
              <a:buNone/>
            </a:pPr>
            <a:r>
              <a:rPr lang="en-US" sz="1250" b="1" dirty="0">
                <a:solidFill>
                  <a:srgbClr val="114B3F"/>
                </a:solidFill>
                <a:latin typeface="맑은 고딕" pitchFamily="34" charset="0"/>
                <a:ea typeface="맑은 고딕" pitchFamily="34" charset="-122"/>
                <a:cs typeface="맑은 고딕" pitchFamily="34" charset="-120"/>
              </a:rPr>
              <a:t>인산염계</a:t>
            </a:r>
            <a:endParaRPr lang="en-US" sz="1250" dirty="0"/>
          </a:p>
        </p:txBody>
      </p:sp>
      <p:sp>
        <p:nvSpPr>
          <p:cNvPr id="35" name="Text 33"/>
          <p:cNvSpPr txBox="1"/>
          <p:nvPr/>
        </p:nvSpPr>
        <p:spPr>
          <a:xfrm>
            <a:off x="777240"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phosphate-bonded</a:t>
            </a:r>
            <a:endParaRPr lang="en-US" sz="1150" dirty="0"/>
          </a:p>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ZPC</a:t>
            </a:r>
            <a:endParaRPr lang="en-US" sz="1150" dirty="0"/>
          </a:p>
        </p:txBody>
      </p:sp>
      <p:sp>
        <p:nvSpPr>
          <p:cNvPr id="36" name="Shape 34"/>
          <p:cNvSpPr/>
          <p:nvPr/>
        </p:nvSpPr>
        <p:spPr>
          <a:xfrm>
            <a:off x="3424428"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413248"/>
            <a:ext cx="347472" cy="347472"/>
          </a:xfrm>
          <a:prstGeom prst="roundRect">
            <a:avLst>
              <a:gd name="adj" fmla="val 21053"/>
            </a:avLst>
          </a:prstGeom>
          <a:solidFill>
            <a:srgbClr val="F2704A"/>
          </a:solidFill>
          <a:ln/>
        </p:spPr>
      </p:sp>
      <p:sp>
        <p:nvSpPr>
          <p:cNvPr id="38" name="Text 36"/>
          <p:cNvSpPr txBox="1"/>
          <p:nvPr/>
        </p:nvSpPr>
        <p:spPr>
          <a:xfrm>
            <a:off x="3561588"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9" name="Text 37"/>
          <p:cNvSpPr txBox="1"/>
          <p:nvPr/>
        </p:nvSpPr>
        <p:spPr>
          <a:xfrm>
            <a:off x="3561588" y="5815584"/>
            <a:ext cx="2281428" cy="292608"/>
          </a:xfrm>
          <a:prstGeom prst="rect">
            <a:avLst/>
          </a:prstGeom>
          <a:noFill/>
          <a:ln/>
        </p:spPr>
        <p:txBody>
          <a:bodyPr wrap="square" lIns="0" tIns="0" rIns="0" bIns="0" rtlCol="0" anchor="ctr"/>
          <a:lstStyle/>
          <a:p>
            <a:pPr indent="0" marL="0">
              <a:buNone/>
            </a:pPr>
            <a:r>
              <a:rPr lang="en-US" sz="1250" b="1" dirty="0">
                <a:solidFill>
                  <a:srgbClr val="114B3F"/>
                </a:solidFill>
                <a:latin typeface="맑은 고딕" pitchFamily="34" charset="0"/>
                <a:ea typeface="맑은 고딕" pitchFamily="34" charset="-122"/>
                <a:cs typeface="맑은 고딕" pitchFamily="34" charset="-120"/>
              </a:rPr>
              <a:t>페놀염계</a:t>
            </a:r>
            <a:endParaRPr lang="en-US" sz="1250" dirty="0"/>
          </a:p>
        </p:txBody>
      </p:sp>
      <p:sp>
        <p:nvSpPr>
          <p:cNvPr id="40" name="Text 38"/>
          <p:cNvSpPr txBox="1"/>
          <p:nvPr/>
        </p:nvSpPr>
        <p:spPr>
          <a:xfrm>
            <a:off x="3561588"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phenolate-bonded</a:t>
            </a:r>
            <a:endParaRPr lang="en-US" sz="1150" dirty="0"/>
          </a:p>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ZOE, 수산화칼슘</a:t>
            </a:r>
            <a:endParaRPr lang="en-US" sz="1150" dirty="0"/>
          </a:p>
        </p:txBody>
      </p:sp>
      <p:sp>
        <p:nvSpPr>
          <p:cNvPr id="41" name="Shape 39"/>
          <p:cNvSpPr/>
          <p:nvPr/>
        </p:nvSpPr>
        <p:spPr>
          <a:xfrm>
            <a:off x="6208776"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413248"/>
            <a:ext cx="347472" cy="347472"/>
          </a:xfrm>
          <a:prstGeom prst="roundRect">
            <a:avLst>
              <a:gd name="adj" fmla="val 21053"/>
            </a:avLst>
          </a:prstGeom>
          <a:solidFill>
            <a:srgbClr val="114B3F"/>
          </a:solidFill>
          <a:ln/>
        </p:spPr>
      </p:sp>
      <p:sp>
        <p:nvSpPr>
          <p:cNvPr id="43" name="Text 41"/>
          <p:cNvSpPr txBox="1"/>
          <p:nvPr/>
        </p:nvSpPr>
        <p:spPr>
          <a:xfrm>
            <a:off x="6345936"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4" name="Text 42"/>
          <p:cNvSpPr txBox="1"/>
          <p:nvPr/>
        </p:nvSpPr>
        <p:spPr>
          <a:xfrm>
            <a:off x="6345936" y="5815584"/>
            <a:ext cx="2281428" cy="292608"/>
          </a:xfrm>
          <a:prstGeom prst="rect">
            <a:avLst/>
          </a:prstGeom>
          <a:noFill/>
          <a:ln/>
        </p:spPr>
        <p:txBody>
          <a:bodyPr wrap="square" lIns="0" tIns="0" rIns="0" bIns="0" rtlCol="0" anchor="ctr"/>
          <a:lstStyle/>
          <a:p>
            <a:pPr indent="0" marL="0">
              <a:buNone/>
            </a:pPr>
            <a:r>
              <a:rPr lang="en-US" sz="1250" b="1" dirty="0">
                <a:solidFill>
                  <a:srgbClr val="114B3F"/>
                </a:solidFill>
                <a:latin typeface="맑은 고딕" pitchFamily="34" charset="0"/>
                <a:ea typeface="맑은 고딕" pitchFamily="34" charset="-122"/>
                <a:cs typeface="맑은 고딕" pitchFamily="34" charset="-120"/>
              </a:rPr>
              <a:t>폴리카복실레이트계</a:t>
            </a:r>
            <a:endParaRPr lang="en-US" sz="1250" dirty="0"/>
          </a:p>
        </p:txBody>
      </p:sp>
      <p:sp>
        <p:nvSpPr>
          <p:cNvPr id="45" name="Text 43"/>
          <p:cNvSpPr txBox="1"/>
          <p:nvPr/>
        </p:nvSpPr>
        <p:spPr>
          <a:xfrm>
            <a:off x="6345936"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polycarboxylate-bonded</a:t>
            </a:r>
            <a:endParaRPr lang="en-US" sz="1150" dirty="0"/>
          </a:p>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PC, GI(GIC)</a:t>
            </a:r>
            <a:endParaRPr lang="en-US" sz="1150" dirty="0"/>
          </a:p>
        </p:txBody>
      </p:sp>
      <p:sp>
        <p:nvSpPr>
          <p:cNvPr id="46" name="Shape 44"/>
          <p:cNvSpPr/>
          <p:nvPr/>
        </p:nvSpPr>
        <p:spPr>
          <a:xfrm>
            <a:off x="8993124" y="5285232"/>
            <a:ext cx="2555748" cy="1097280"/>
          </a:xfrm>
          <a:prstGeom prst="roundRect">
            <a:avLst>
              <a:gd name="adj" fmla="val 8333"/>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413248"/>
            <a:ext cx="347472" cy="347472"/>
          </a:xfrm>
          <a:prstGeom prst="roundRect">
            <a:avLst>
              <a:gd name="adj" fmla="val 21053"/>
            </a:avLst>
          </a:prstGeom>
          <a:solidFill>
            <a:srgbClr val="F2704A"/>
          </a:solidFill>
          <a:ln/>
        </p:spPr>
      </p:sp>
      <p:sp>
        <p:nvSpPr>
          <p:cNvPr id="48" name="Text 46"/>
          <p:cNvSpPr txBox="1"/>
          <p:nvPr/>
        </p:nvSpPr>
        <p:spPr>
          <a:xfrm>
            <a:off x="9130284" y="541324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9" name="Text 47"/>
          <p:cNvSpPr txBox="1"/>
          <p:nvPr/>
        </p:nvSpPr>
        <p:spPr>
          <a:xfrm>
            <a:off x="9130284" y="5815584"/>
            <a:ext cx="2281428" cy="292608"/>
          </a:xfrm>
          <a:prstGeom prst="rect">
            <a:avLst/>
          </a:prstGeom>
          <a:noFill/>
          <a:ln/>
        </p:spPr>
        <p:txBody>
          <a:bodyPr wrap="square" lIns="0" tIns="0" rIns="0" bIns="0" rtlCol="0" anchor="ctr"/>
          <a:lstStyle/>
          <a:p>
            <a:pPr indent="0" marL="0">
              <a:buNone/>
            </a:pPr>
            <a:r>
              <a:rPr lang="en-US" sz="1250" b="1" dirty="0">
                <a:solidFill>
                  <a:srgbClr val="114B3F"/>
                </a:solidFill>
                <a:latin typeface="맑은 고딕" pitchFamily="34" charset="0"/>
                <a:ea typeface="맑은 고딕" pitchFamily="34" charset="-122"/>
                <a:cs typeface="맑은 고딕" pitchFamily="34" charset="-120"/>
              </a:rPr>
              <a:t>레진계</a:t>
            </a:r>
            <a:endParaRPr lang="en-US" sz="1250" dirty="0"/>
          </a:p>
        </p:txBody>
      </p:sp>
      <p:sp>
        <p:nvSpPr>
          <p:cNvPr id="50" name="Text 48"/>
          <p:cNvSpPr txBox="1"/>
          <p:nvPr/>
        </p:nvSpPr>
        <p:spPr>
          <a:xfrm>
            <a:off x="9130284" y="6144768"/>
            <a:ext cx="2281428" cy="146304"/>
          </a:xfrm>
          <a:prstGeom prst="rect">
            <a:avLst/>
          </a:prstGeom>
          <a:noFill/>
          <a:ln/>
        </p:spPr>
        <p:txBody>
          <a:bodyPr wrap="square" lIns="0" tIns="0" rIns="0" bIns="0" rtlCol="0" anchor="ctr"/>
          <a:lstStyle/>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resin-bonded</a:t>
            </a:r>
            <a:endParaRPr lang="en-US" sz="1150" dirty="0"/>
          </a:p>
          <a:p>
            <a:pPr indent="0" marL="0">
              <a:lnSpc>
                <a:spcPct val="120000"/>
              </a:lnSpc>
              <a:buNone/>
            </a:pPr>
            <a:r>
              <a:rPr lang="en-US" sz="1150" dirty="0">
                <a:solidFill>
                  <a:srgbClr val="6B7568"/>
                </a:solidFill>
                <a:latin typeface="맑은 고딕" pitchFamily="34" charset="0"/>
                <a:ea typeface="맑은 고딕" pitchFamily="34" charset="-122"/>
                <a:cs typeface="맑은 고딕"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오늘 다루는 시멘트: ZPC · PC · GIC · RMGI</a:t>
            </a:r>
            <a:endParaRPr lang="en-US" sz="2400" dirty="0"/>
          </a:p>
        </p:txBody>
      </p:sp>
      <p:sp>
        <p:nvSpPr>
          <p:cNvPr id="4" name="Shape 2"/>
          <p:cNvSpPr/>
          <p:nvPr/>
        </p:nvSpPr>
        <p:spPr>
          <a:xfrm>
            <a:off x="64008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709928"/>
            <a:ext cx="640080" cy="292608"/>
          </a:xfrm>
          <a:prstGeom prst="roundRect">
            <a:avLst>
              <a:gd name="adj" fmla="val 18750"/>
            </a:avLst>
          </a:prstGeom>
          <a:solidFill>
            <a:srgbClr val="114B3F"/>
          </a:solidFill>
          <a:ln/>
        </p:spPr>
      </p:sp>
      <p:sp>
        <p:nvSpPr>
          <p:cNvPr id="6" name="Text 4"/>
          <p:cNvSpPr txBox="1"/>
          <p:nvPr/>
        </p:nvSpPr>
        <p:spPr>
          <a:xfrm>
            <a:off x="89611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709928"/>
            <a:ext cx="2368296" cy="292608"/>
          </a:xfrm>
          <a:prstGeom prst="rect">
            <a:avLst/>
          </a:prstGeom>
          <a:noFill/>
          <a:ln/>
        </p:spPr>
        <p:txBody>
          <a:bodyPr wrap="square" lIns="0" tIns="0" rIns="0" bIns="0" rtlCol="0" anchor="ctr"/>
          <a:lstStyle/>
          <a:p>
            <a:pPr indent="0" marL="0">
              <a:buNone/>
            </a:pPr>
            <a:r>
              <a:rPr lang="en-US" sz="1050" i="1" dirty="0">
                <a:solidFill>
                  <a:srgbClr val="6B7568"/>
                </a:solidFill>
                <a:latin typeface="Cambria" pitchFamily="34" charset="0"/>
                <a:ea typeface="Cambria" pitchFamily="34" charset="-122"/>
                <a:cs typeface="Cambria" pitchFamily="34" charset="-120"/>
              </a:rPr>
              <a:t>(Zinc Phosphate Cement)</a:t>
            </a:r>
            <a:endParaRPr lang="en-US" sz="1050" dirty="0"/>
          </a:p>
        </p:txBody>
      </p:sp>
      <p:sp>
        <p:nvSpPr>
          <p:cNvPr id="8" name="Text 6"/>
          <p:cNvSpPr txBox="1"/>
          <p:nvPr/>
        </p:nvSpPr>
        <p:spPr>
          <a:xfrm>
            <a:off x="896112" y="2167128"/>
            <a:ext cx="3099816" cy="2514600"/>
          </a:xfrm>
          <a:prstGeom prst="rect">
            <a:avLst/>
          </a:prstGeom>
          <a:noFill/>
          <a:ln/>
        </p:spPr>
        <p:txBody>
          <a:bodyPr wrap="square" lIns="0" tIns="0" rIns="0" bIns="0" rtlCol="0" anchor="ctr"/>
          <a:lstStyle/>
          <a:p>
            <a:pPr indent="0" marL="0">
              <a:lnSpc>
                <a:spcPct val="120000"/>
              </a:lnSpc>
              <a:buNone/>
            </a:pPr>
            <a:r>
              <a:rPr lang="en-US" sz="1150" b="1" dirty="0">
                <a:solidFill>
                  <a:srgbClr val="F2704A"/>
                </a:solidFill>
                <a:latin typeface="맑은 고딕" pitchFamily="34" charset="0"/>
                <a:ea typeface="맑은 고딕" pitchFamily="34" charset="-122"/>
                <a:cs typeface="맑은 고딕" pitchFamily="34" charset="-120"/>
              </a:rPr>
              <a:t>Composition
</a:t>
            </a:r>
            <a:pPr indent="0" marL="0">
              <a:lnSpc>
                <a:spcPct val="120000"/>
              </a:lnSpc>
              <a:buNone/>
            </a:pPr>
            <a:r>
              <a:rPr lang="en-US" sz="1150" dirty="0">
                <a:solidFill>
                  <a:srgbClr val="1C2321"/>
                </a:solidFill>
                <a:latin typeface="맑은 고딕" pitchFamily="34" charset="0"/>
                <a:ea typeface="맑은 고딕" pitchFamily="34" charset="-122"/>
                <a:cs typeface="맑은 고딕" pitchFamily="34" charset="-120"/>
              </a:rPr>
              <a:t>Powder: ZnO, MgO
Solution: 인산, 물
</a:t>
            </a:r>
            <a:pPr indent="0" marL="0">
              <a:lnSpc>
                <a:spcPct val="120000"/>
              </a:lnSpc>
              <a:buNone/>
            </a:pPr>
            <a:r>
              <a:rPr lang="en-US" sz="1150" b="1" dirty="0">
                <a:solidFill>
                  <a:srgbClr val="F2704A"/>
                </a:solidFill>
                <a:latin typeface="맑은 고딕" pitchFamily="34" charset="0"/>
                <a:ea typeface="맑은 고딕" pitchFamily="34" charset="-122"/>
                <a:cs typeface="맑은 고딕" pitchFamily="34" charset="-120"/>
              </a:rPr>
              <a:t>Purpose
</a:t>
            </a:r>
            <a:pPr indent="0" marL="0">
              <a:lnSpc>
                <a:spcPct val="120000"/>
              </a:lnSpc>
              <a:buNone/>
            </a:pPr>
            <a:r>
              <a:rPr lang="en-US" sz="1150" dirty="0">
                <a:solidFill>
                  <a:srgbClr val="1C2321"/>
                </a:solidFill>
                <a:latin typeface="맑은 고딕" pitchFamily="34" charset="0"/>
                <a:ea typeface="맑은 고딕" pitchFamily="34" charset="-122"/>
                <a:cs typeface="맑은 고딕" pitchFamily="34" charset="-120"/>
              </a:rPr>
              <a:t>간접 수복물 영구 합착, 교정용 밴드 접착,
고강도 베이스, 임시수복재
</a:t>
            </a:r>
            <a:pPr indent="0" marL="0">
              <a:lnSpc>
                <a:spcPct val="120000"/>
              </a:lnSpc>
              <a:buNone/>
            </a:pPr>
            <a:r>
              <a:rPr lang="en-US" sz="1150" b="1" dirty="0">
                <a:solidFill>
                  <a:srgbClr val="F2704A"/>
                </a:solidFill>
                <a:latin typeface="맑은 고딕" pitchFamily="34" charset="0"/>
                <a:ea typeface="맑은 고딕" pitchFamily="34" charset="-122"/>
                <a:cs typeface="맑은 고딕" pitchFamily="34" charset="-120"/>
              </a:rPr>
              <a:t>Mixing
</a:t>
            </a:r>
            <a:pPr indent="0" marL="0">
              <a:lnSpc>
                <a:spcPct val="120000"/>
              </a:lnSpc>
              <a:buNone/>
            </a:pPr>
            <a:r>
              <a:rPr lang="en-US" sz="1150" dirty="0">
                <a:solidFill>
                  <a:srgbClr val="1C2321"/>
                </a:solidFill>
                <a:latin typeface="맑은 고딕" pitchFamily="34" charset="0"/>
                <a:ea typeface="맑은 고딕" pitchFamily="34" charset="-122"/>
                <a:cs typeface="맑은 고딕" pitchFamily="34" charset="-120"/>
              </a:rPr>
              <a:t>Glass slab 위, metal spatula</a:t>
            </a:r>
            <a:endParaRPr lang="en-US" sz="1150" dirty="0"/>
          </a:p>
        </p:txBody>
      </p:sp>
      <p:sp>
        <p:nvSpPr>
          <p:cNvPr id="9" name="Shape 7"/>
          <p:cNvSpPr/>
          <p:nvPr/>
        </p:nvSpPr>
        <p:spPr>
          <a:xfrm>
            <a:off x="443484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0" name="Shape 8"/>
          <p:cNvSpPr/>
          <p:nvPr/>
        </p:nvSpPr>
        <p:spPr>
          <a:xfrm>
            <a:off x="4690872" y="1709928"/>
            <a:ext cx="640080" cy="292608"/>
          </a:xfrm>
          <a:prstGeom prst="roundRect">
            <a:avLst>
              <a:gd name="adj" fmla="val 18750"/>
            </a:avLst>
          </a:prstGeom>
          <a:solidFill>
            <a:srgbClr val="114B3F"/>
          </a:solidFill>
          <a:ln/>
        </p:spPr>
      </p:sp>
      <p:sp>
        <p:nvSpPr>
          <p:cNvPr id="11" name="Text 9"/>
          <p:cNvSpPr txBox="1"/>
          <p:nvPr/>
        </p:nvSpPr>
        <p:spPr>
          <a:xfrm>
            <a:off x="469087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2" name="Text 10"/>
          <p:cNvSpPr txBox="1"/>
          <p:nvPr/>
        </p:nvSpPr>
        <p:spPr>
          <a:xfrm>
            <a:off x="5422392" y="1709928"/>
            <a:ext cx="2368296" cy="292608"/>
          </a:xfrm>
          <a:prstGeom prst="rect">
            <a:avLst/>
          </a:prstGeom>
          <a:noFill/>
          <a:ln/>
        </p:spPr>
        <p:txBody>
          <a:bodyPr wrap="square" lIns="0" tIns="0" rIns="0" bIns="0" rtlCol="0" anchor="ctr"/>
          <a:lstStyle/>
          <a:p>
            <a:pPr indent="0" marL="0">
              <a:buNone/>
            </a:pPr>
            <a:r>
              <a:rPr lang="en-US" sz="1050" i="1" dirty="0">
                <a:solidFill>
                  <a:srgbClr val="6B7568"/>
                </a:solidFill>
                <a:latin typeface="Cambria" pitchFamily="34" charset="0"/>
                <a:ea typeface="Cambria" pitchFamily="34" charset="-122"/>
                <a:cs typeface="Cambria" pitchFamily="34" charset="-120"/>
              </a:rPr>
              <a:t>(Polycarboxylate)</a:t>
            </a:r>
            <a:endParaRPr lang="en-US" sz="1050" dirty="0"/>
          </a:p>
        </p:txBody>
      </p:sp>
      <p:pic>
        <p:nvPicPr>
          <p:cNvPr id="13" name="Image 0" descr="/home/user/-/수복치과재료학실험/dental_photos/insert/photo_09.jpg">    </p:cNvPr>
          <p:cNvPicPr>
            <a:picLocks noChangeAspect="1"/>
          </p:cNvPicPr>
          <p:nvPr/>
        </p:nvPicPr>
        <p:blipFill>
          <a:blip r:embed="rId1"/>
          <a:srcRect l="0" r="0" t="0" b="0"/>
          <a:stretch/>
        </p:blipFill>
        <p:spPr>
          <a:xfrm>
            <a:off x="5554980" y="2167128"/>
            <a:ext cx="1371600" cy="1028700"/>
          </a:xfrm>
          <a:prstGeom prst="rect">
            <a:avLst/>
          </a:prstGeom>
        </p:spPr>
      </p:pic>
      <p:sp>
        <p:nvSpPr>
          <p:cNvPr id="14" name="Shape 11"/>
          <p:cNvSpPr/>
          <p:nvPr/>
        </p:nvSpPr>
        <p:spPr>
          <a:xfrm>
            <a:off x="5554980" y="2167128"/>
            <a:ext cx="1371600" cy="1028700"/>
          </a:xfrm>
          <a:prstGeom prst="rect">
            <a:avLst/>
          </a:prstGeom>
          <a:ln w="12700">
            <a:solidFill>
              <a:srgbClr val="E4DED2"/>
            </a:solidFill>
            <a:prstDash val="solid"/>
          </a:ln>
        </p:spPr>
      </p:sp>
      <p:sp>
        <p:nvSpPr>
          <p:cNvPr id="15" name="Text 12"/>
          <p:cNvSpPr txBox="1"/>
          <p:nvPr/>
        </p:nvSpPr>
        <p:spPr>
          <a:xfrm>
            <a:off x="4690872" y="3223260"/>
            <a:ext cx="3099816" cy="219456"/>
          </a:xfrm>
          <a:prstGeom prst="rect">
            <a:avLst/>
          </a:prstGeom>
          <a:noFill/>
          <a:ln/>
        </p:spPr>
        <p:txBody>
          <a:bodyPr wrap="square" lIns="0" tIns="0" rIns="0" bIns="0" rtlCol="0" anchor="ctr"/>
          <a:lstStyle/>
          <a:p>
            <a:pPr algn="ctr" indent="0" marL="0">
              <a:buNone/>
            </a:pPr>
            <a:r>
              <a:rPr lang="en-US" sz="1000" i="1" dirty="0">
                <a:solidFill>
                  <a:srgbClr val="6B7568"/>
                </a:solidFill>
                <a:latin typeface="맑은 고딕" pitchFamily="34" charset="0"/>
                <a:ea typeface="맑은 고딕" pitchFamily="34" charset="-122"/>
                <a:cs typeface="맑은 고딕" pitchFamily="34" charset="-120"/>
              </a:rPr>
              <a:t>PC 재료 — Hy-Bond Carbo Plus</a:t>
            </a:r>
            <a:endParaRPr lang="en-US" sz="1000" dirty="0"/>
          </a:p>
        </p:txBody>
      </p:sp>
      <p:sp>
        <p:nvSpPr>
          <p:cNvPr id="16" name="Text 13"/>
          <p:cNvSpPr txBox="1"/>
          <p:nvPr/>
        </p:nvSpPr>
        <p:spPr>
          <a:xfrm>
            <a:off x="469087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Powder: ZnO, MgO
Solution: 폴리아크릴산, 물
</a:t>
            </a:r>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영구 합착용, 이장용, 베이스용,
교정용 밴드 정착
</a:t>
            </a:r>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Paper pad 위, plastic spatula</a:t>
            </a:r>
            <a:endParaRPr lang="en-US" sz="1150" dirty="0"/>
          </a:p>
        </p:txBody>
      </p:sp>
      <p:sp>
        <p:nvSpPr>
          <p:cNvPr id="17" name="Shape 14"/>
          <p:cNvSpPr/>
          <p:nvPr/>
        </p:nvSpPr>
        <p:spPr>
          <a:xfrm>
            <a:off x="8229600" y="1508760"/>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8" name="Shape 15"/>
          <p:cNvSpPr/>
          <p:nvPr/>
        </p:nvSpPr>
        <p:spPr>
          <a:xfrm>
            <a:off x="8485632" y="1709928"/>
            <a:ext cx="640080" cy="292608"/>
          </a:xfrm>
          <a:prstGeom prst="roundRect">
            <a:avLst>
              <a:gd name="adj" fmla="val 18750"/>
            </a:avLst>
          </a:prstGeom>
          <a:solidFill>
            <a:srgbClr val="114B3F"/>
          </a:solidFill>
          <a:ln/>
        </p:spPr>
      </p:sp>
      <p:sp>
        <p:nvSpPr>
          <p:cNvPr id="19" name="Text 16"/>
          <p:cNvSpPr txBox="1"/>
          <p:nvPr/>
        </p:nvSpPr>
        <p:spPr>
          <a:xfrm>
            <a:off x="8485632" y="1709928"/>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0" name="Text 17"/>
          <p:cNvSpPr txBox="1"/>
          <p:nvPr/>
        </p:nvSpPr>
        <p:spPr>
          <a:xfrm>
            <a:off x="9217152" y="1709928"/>
            <a:ext cx="2368296" cy="292608"/>
          </a:xfrm>
          <a:prstGeom prst="rect">
            <a:avLst/>
          </a:prstGeom>
          <a:noFill/>
          <a:ln/>
        </p:spPr>
        <p:txBody>
          <a:bodyPr wrap="square" lIns="0" tIns="0" rIns="0" bIns="0" rtlCol="0" anchor="ctr"/>
          <a:lstStyle/>
          <a:p>
            <a:pPr indent="0" marL="0">
              <a:buNone/>
            </a:pPr>
            <a:r>
              <a:rPr lang="en-US" sz="1050" i="1" dirty="0">
                <a:solidFill>
                  <a:srgbClr val="6B7568"/>
                </a:solidFill>
                <a:latin typeface="Cambria" pitchFamily="34" charset="0"/>
                <a:ea typeface="Cambria" pitchFamily="34" charset="-122"/>
                <a:cs typeface="Cambria" pitchFamily="34" charset="-120"/>
              </a:rPr>
              <a:t>(Glass Ionomer)</a:t>
            </a:r>
            <a:endParaRPr lang="en-US" sz="1050" dirty="0"/>
          </a:p>
        </p:txBody>
      </p:sp>
      <p:pic>
        <p:nvPicPr>
          <p:cNvPr id="21" name="Image 1" descr="/home/user/-/수복치과재료학실험/dental_photos/insert/photo_10.jpg">    </p:cNvPr>
          <p:cNvPicPr>
            <a:picLocks noChangeAspect="1"/>
          </p:cNvPicPr>
          <p:nvPr/>
        </p:nvPicPr>
        <p:blipFill>
          <a:blip r:embed="rId2"/>
          <a:srcRect l="0" r="0" t="0" b="0"/>
          <a:stretch/>
        </p:blipFill>
        <p:spPr>
          <a:xfrm>
            <a:off x="9349740" y="2167128"/>
            <a:ext cx="1371600" cy="1028700"/>
          </a:xfrm>
          <a:prstGeom prst="rect">
            <a:avLst/>
          </a:prstGeom>
        </p:spPr>
      </p:pic>
      <p:sp>
        <p:nvSpPr>
          <p:cNvPr id="22" name="Shape 18"/>
          <p:cNvSpPr/>
          <p:nvPr/>
        </p:nvSpPr>
        <p:spPr>
          <a:xfrm>
            <a:off x="9349740" y="2167128"/>
            <a:ext cx="1371600" cy="1028700"/>
          </a:xfrm>
          <a:prstGeom prst="rect">
            <a:avLst/>
          </a:prstGeom>
          <a:ln w="12700">
            <a:solidFill>
              <a:srgbClr val="E4DED2"/>
            </a:solidFill>
            <a:prstDash val="solid"/>
          </a:ln>
        </p:spPr>
      </p:sp>
      <p:sp>
        <p:nvSpPr>
          <p:cNvPr id="23" name="Text 19"/>
          <p:cNvSpPr txBox="1"/>
          <p:nvPr/>
        </p:nvSpPr>
        <p:spPr>
          <a:xfrm>
            <a:off x="8485632" y="3223260"/>
            <a:ext cx="3099816" cy="219456"/>
          </a:xfrm>
          <a:prstGeom prst="rect">
            <a:avLst/>
          </a:prstGeom>
          <a:noFill/>
          <a:ln/>
        </p:spPr>
        <p:txBody>
          <a:bodyPr wrap="square" lIns="0" tIns="0" rIns="0" bIns="0" rtlCol="0" anchor="ctr"/>
          <a:lstStyle/>
          <a:p>
            <a:pPr algn="ctr" indent="0" marL="0">
              <a:buNone/>
            </a:pPr>
            <a:r>
              <a:rPr lang="en-US" sz="1000" i="1" dirty="0">
                <a:solidFill>
                  <a:srgbClr val="6B7568"/>
                </a:solidFill>
                <a:latin typeface="맑은 고딕" pitchFamily="34" charset="0"/>
                <a:ea typeface="맑은 고딕" pitchFamily="34" charset="-122"/>
                <a:cs typeface="맑은 고딕" pitchFamily="34" charset="-120"/>
              </a:rPr>
              <a:t>GIC 재료 — GC Fuji I</a:t>
            </a:r>
            <a:endParaRPr lang="en-US" sz="1000" dirty="0"/>
          </a:p>
        </p:txBody>
      </p:sp>
      <p:sp>
        <p:nvSpPr>
          <p:cNvPr id="24" name="Text 20"/>
          <p:cNvSpPr txBox="1"/>
          <p:nvPr/>
        </p:nvSpPr>
        <p:spPr>
          <a:xfrm>
            <a:off x="8485632" y="3534156"/>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Composition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Powder: F-Al-실리케이트 글라스
Solution: 폴리아크릴산 등, 물
</a:t>
            </a:r>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Purpose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수복물 영구 합착, 유치 수복, 임시 수복,
소와열구전색, 교정용 밴드 합착
</a:t>
            </a:r>
            <a:pPr indent="0" marL="0">
              <a:lnSpc>
                <a:spcPct val="110000"/>
              </a:lnSpc>
              <a:buNone/>
            </a:pPr>
            <a:r>
              <a:rPr lang="en-US" sz="1150" b="1" dirty="0">
                <a:solidFill>
                  <a:srgbClr val="F2704A"/>
                </a:solidFill>
                <a:latin typeface="맑은 고딕" pitchFamily="34" charset="0"/>
                <a:ea typeface="맑은 고딕" pitchFamily="34" charset="-122"/>
                <a:cs typeface="맑은 고딕" pitchFamily="34" charset="-120"/>
              </a:rPr>
              <a:t>Mixing
</a:t>
            </a:r>
            <a:pPr indent="0" marL="0">
              <a:lnSpc>
                <a:spcPct val="110000"/>
              </a:lnSpc>
              <a:buNone/>
            </a:pPr>
            <a:r>
              <a:rPr lang="en-US" sz="1150" dirty="0">
                <a:solidFill>
                  <a:srgbClr val="1C2321"/>
                </a:solidFill>
                <a:latin typeface="맑은 고딕" pitchFamily="34" charset="0"/>
                <a:ea typeface="맑은 고딕" pitchFamily="34" charset="-122"/>
                <a:cs typeface="맑은 고딕" pitchFamily="34" charset="-120"/>
              </a:rPr>
              <a:t>Paper pad 위, plastic spatula</a:t>
            </a:r>
            <a:endParaRPr lang="en-US" sz="1150" dirty="0"/>
          </a:p>
        </p:txBody>
      </p:sp>
      <p:sp>
        <p:nvSpPr>
          <p:cNvPr id="25" name="Shape 21"/>
          <p:cNvSpPr/>
          <p:nvPr/>
        </p:nvSpPr>
        <p:spPr>
          <a:xfrm>
            <a:off x="640080" y="5806440"/>
            <a:ext cx="10908792" cy="777240"/>
          </a:xfrm>
          <a:prstGeom prst="roundRect">
            <a:avLst>
              <a:gd name="adj" fmla="val 9412"/>
            </a:avLst>
          </a:prstGeom>
          <a:solidFill>
            <a:srgbClr val="FFFFFF"/>
          </a:solidFill>
          <a:ln/>
        </p:spPr>
      </p:sp>
      <p:sp>
        <p:nvSpPr>
          <p:cNvPr id="26" name="Text 22"/>
          <p:cNvSpPr txBox="1"/>
          <p:nvPr/>
        </p:nvSpPr>
        <p:spPr>
          <a:xfrm>
            <a:off x="868680" y="591616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14B3F"/>
                </a:solidFill>
                <a:latin typeface="맑은 고딕" pitchFamily="34" charset="0"/>
                <a:ea typeface="맑은 고딕" pitchFamily="34" charset="-122"/>
                <a:cs typeface="맑은 고딕" pitchFamily="34" charset="-120"/>
              </a:rPr>
              <a:t>냉각판 혼합법(frozen slab method): </a:t>
            </a:r>
            <a:pPr indent="0" marL="0">
              <a:lnSpc>
                <a:spcPct val="125000"/>
              </a:lnSpc>
              <a:buNone/>
            </a:pPr>
            <a:r>
              <a:rPr lang="en-US" sz="1100" dirty="0">
                <a:solidFill>
                  <a:srgbClr val="1C2321"/>
                </a:solidFill>
                <a:latin typeface="맑은 고딕" pitchFamily="34" charset="0"/>
                <a:ea typeface="맑은 고딕" pitchFamily="34" charset="-122"/>
                <a:cs typeface="맑은 고딕" pitchFamily="34" charset="-120"/>
              </a:rPr>
              <a:t>냉동고에 보관해 둔 유리판. 15% 높은 분액비 조건에서 사용 — 작업시간은 길고 경화시간은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14B3F"/>
                </a:solidFill>
                <a:latin typeface="맑은 고딕" pitchFamily="34" charset="0"/>
                <a:ea typeface="맑은 고딕" pitchFamily="34" charset="-122"/>
                <a:cs typeface="맑은 고딕" pitchFamily="34" charset="-120"/>
              </a:rPr>
              <a:t>RMGI(Resin-Modified GI): </a:t>
            </a:r>
            <a:pPr indent="0" marL="0">
              <a:lnSpc>
                <a:spcPct val="125000"/>
              </a:lnSpc>
              <a:buNone/>
            </a:pPr>
            <a:r>
              <a:rPr lang="en-US" sz="1100" dirty="0">
                <a:solidFill>
                  <a:srgbClr val="1C2321"/>
                </a:solidFill>
                <a:latin typeface="맑은 고딕" pitchFamily="34" charset="0"/>
                <a:ea typeface="맑은 고딕" pitchFamily="34" charset="-122"/>
                <a:cs typeface="맑은 고딕" pitchFamily="34" charset="-120"/>
              </a:rPr>
              <a:t>GIC 개량형 — 1:1 auto-mixing tip으로 혼합, 광중합/화학중합 병행(dual-cure) 가능.</a:t>
            </a:r>
            <a:endParaRPr lang="en-US" sz="1100" dirty="0"/>
          </a:p>
        </p:txBody>
      </p:sp>
      <p:sp>
        <p:nvSpPr>
          <p:cNvPr id="27" name="Text 2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Indentor: (400±5)g, flat end 지름 (1±0.1)mm</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Net setting time(순경화시간)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½ 슬라이드글라스 2매의 두께를 1µm 단위로 선측정(A)</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글라스판 사이에 혼합 시멘트 0.1g을 개재</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정하중 압축기 150N의 힘을 10분간 가함</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14B3F"/>
                </a:solidFill>
                <a:latin typeface="맑은 고딕" pitchFamily="34" charset="0"/>
                <a:ea typeface="맑은 고딕" pitchFamily="34" charset="-122"/>
                <a:cs typeface="맑은 고딕"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502920"/>
                <a:gridCol w="1417320"/>
                <a:gridCol w="868680"/>
                <a:gridCol w="685800"/>
                <a:gridCol w="594360"/>
                <a:gridCol w="594360"/>
              </a:tblGrid>
              <a:tr h="548640">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재료</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제품명</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P/L ratio</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Mixing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Working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Setting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r>
              <a:tr h="594360">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ZPC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Elite Cement 100</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1.45g/0.5mL</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60~90초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3~4분*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7분 10초*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594360">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PC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Hy-Bond Carbo Plus</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2.2g/1.0g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45초 이내</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3분*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4분*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548640">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GIC</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GC Fuji I</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1.8g/1.0g</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20초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2분†</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950" dirty="0">
                          <a:solidFill>
                            <a:srgbClr val="1C2321"/>
                          </a:solidFill>
                          <a:latin typeface="맑은 고딕" pitchFamily="34" charset="0"/>
                          <a:ea typeface="맑은 고딕" pitchFamily="34" charset="-122"/>
                          <a:cs typeface="맑은 고딕" pitchFamily="34" charset="-120"/>
                        </a:rPr>
                        <a:t>4분 30초‡</a:t>
                      </a:r>
                      <a:endParaRPr lang="en-US" sz="9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i="1" dirty="0">
                <a:solidFill>
                  <a:srgbClr val="6B7568"/>
                </a:solidFill>
                <a:latin typeface="맑은 고딕" pitchFamily="34" charset="0"/>
                <a:ea typeface="맑은 고딕" pitchFamily="34" charset="-122"/>
                <a:cs typeface="맑은 고딕" pitchFamily="34" charset="-120"/>
              </a:rPr>
              <a:t>* mixing 종료(합착) 기준  † mixing 시작 기준  ‡ 수복물 장착 이후 최종 마무리 가능 시점 — 제품마다 기준 시점이 달라 직접 비교 시 유의.</a:t>
            </a:r>
            <a:endParaRPr lang="en-US" sz="900" dirty="0"/>
          </a:p>
        </p:txBody>
      </p:sp>
      <p:sp>
        <p:nvSpPr>
          <p:cNvPr id="12" name="Shape 9"/>
          <p:cNvSpPr/>
          <p:nvPr/>
        </p:nvSpPr>
        <p:spPr>
          <a:xfrm>
            <a:off x="640080" y="5532120"/>
            <a:ext cx="10908792" cy="868680"/>
          </a:xfrm>
          <a:prstGeom prst="roundRect">
            <a:avLst>
              <a:gd name="adj" fmla="val 8421"/>
            </a:avLst>
          </a:prstGeom>
          <a:solidFill>
            <a:srgbClr val="EAF2EE"/>
          </a:solidFill>
          <a:ln/>
        </p:spPr>
      </p:sp>
      <p:sp>
        <p:nvSpPr>
          <p:cNvPr id="13" name="Text 10"/>
          <p:cNvSpPr txBox="1"/>
          <p:nvPr/>
        </p:nvSpPr>
        <p:spPr>
          <a:xfrm>
            <a:off x="914400" y="5669280"/>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14B3F"/>
                </a:solidFill>
                <a:latin typeface="맑은 고딕" pitchFamily="34" charset="0"/>
                <a:ea typeface="맑은 고딕" pitchFamily="34" charset="-122"/>
                <a:cs typeface="맑은 고딕" pitchFamily="34" charset="-120"/>
              </a:rPr>
              <a:t>실습 조건 vs ISO 표준:  </a:t>
            </a:r>
            <a:pPr indent="0" marL="0">
              <a:lnSpc>
                <a:spcPct val="125000"/>
              </a:lnSpc>
              <a:buNone/>
            </a:pPr>
            <a:r>
              <a:rPr lang="en-US" sz="1100" dirty="0">
                <a:solidFill>
                  <a:srgbClr val="1C2321"/>
                </a:solidFill>
                <a:latin typeface="맑은 고딕" pitchFamily="34" charset="0"/>
                <a:ea typeface="맑은 고딕" pitchFamily="34" charset="-122"/>
                <a:cs typeface="맑은 고딕"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실험 목적 및 시행 항목</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9/22 수업일지 요약</a:t>
            </a:r>
            <a:endParaRPr lang="en-US" sz="1450" dirty="0"/>
          </a:p>
        </p:txBody>
      </p:sp>
      <p:sp>
        <p:nvSpPr>
          <p:cNvPr id="5" name="Text 3"/>
          <p:cNvSpPr txBox="1"/>
          <p:nvPr/>
        </p:nvSpPr>
        <p:spPr>
          <a:xfrm>
            <a:off x="640080" y="1828800"/>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321"/>
                </a:solidFill>
                <a:latin typeface="맑은 고딕" pitchFamily="34" charset="0"/>
                <a:ea typeface="맑은 고딕" pitchFamily="34" charset="-122"/>
                <a:cs typeface="맑은 고딕"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423160"/>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재료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조건 변수</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측정 항목</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r>
              <a:tr h="278892">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ZPC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정상 / 15%↑ / 15%↓ / 냉각판(frozen)</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78892">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PC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78892">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GIC</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정상 P/L</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setting time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78892">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RMGI</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1:1 auto-mixing tip</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setting time, film thickness</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78892">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ZOE</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적당량(구경·시연만)</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200" dirty="0">
                          <a:solidFill>
                            <a:srgbClr val="1C2321"/>
                          </a:solidFill>
                          <a:latin typeface="맑은 고딕" pitchFamily="34" charset="0"/>
                          <a:ea typeface="맑은 고딕" pitchFamily="34" charset="-122"/>
                          <a:cs typeface="맑은 고딕" pitchFamily="34" charset="-120"/>
                        </a:rPr>
                        <a:t>-</a:t>
                      </a:r>
                      <a:endParaRPr lang="en-US" sz="12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bl>
          </a:graphicData>
        </a:graphic>
      </p:graphicFrame>
      <p:sp>
        <p:nvSpPr>
          <p:cNvPr id="7" name="Text 4"/>
          <p:cNvSpPr txBox="1"/>
          <p:nvPr/>
        </p:nvSpPr>
        <p:spPr>
          <a:xfrm>
            <a:off x="640080" y="434340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실험 목적 (수업 슬라이드 원문)</a:t>
            </a:r>
            <a:endParaRPr lang="en-US" sz="1450" dirty="0"/>
          </a:p>
        </p:txBody>
      </p:sp>
      <p:sp>
        <p:nvSpPr>
          <p:cNvPr id="8" name="Text 5"/>
          <p:cNvSpPr txBox="1"/>
          <p:nvPr/>
        </p:nvSpPr>
        <p:spPr>
          <a:xfrm>
            <a:off x="640080" y="4663440"/>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시멘트의 혼합 방법의 차이</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시멘트 혼합 시 점도의 차이</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분액비의 차이가 경화시간에 미치는 영향</a:t>
            </a:r>
            <a:endParaRPr lang="en-US" sz="1200" dirty="0"/>
          </a:p>
        </p:txBody>
      </p:sp>
      <p:sp>
        <p:nvSpPr>
          <p:cNvPr id="9" name="Text 6"/>
          <p:cNvSpPr txBox="1"/>
          <p:nvPr/>
        </p:nvSpPr>
        <p:spPr>
          <a:xfrm>
            <a:off x="6217920" y="4663440"/>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냉각판 사용의 의미</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피막도 측정오류의 이유</a:t>
            </a:r>
            <a:endParaRPr lang="en-US" sz="1200" dirty="0"/>
          </a:p>
          <a:p>
            <a:pPr indent="0" marL="0">
              <a:lnSpc>
                <a:spcPct val="140000"/>
              </a:lnSpc>
              <a:buNone/>
            </a:pPr>
            <a:r>
              <a:rPr lang="en-US" sz="1200" dirty="0">
                <a:solidFill>
                  <a:srgbClr val="1C2321"/>
                </a:solidFill>
                <a:latin typeface="맑은 고딕" pitchFamily="34" charset="0"/>
                <a:ea typeface="맑은 고딕" pitchFamily="34" charset="-122"/>
                <a:cs typeface="맑은 고딕" pitchFamily="34" charset="-120"/>
              </a:rPr>
              <a:t>•  각 시멘트 혼합물의 특징</a:t>
            </a:r>
            <a:endParaRPr lang="en-US" sz="1200" dirty="0"/>
          </a:p>
        </p:txBody>
      </p:sp>
      <p:sp>
        <p:nvSpPr>
          <p:cNvPr id="10" name="Text 7"/>
          <p:cNvSpPr txBox="1"/>
          <p:nvPr/>
        </p:nvSpPr>
        <p:spPr>
          <a:xfrm>
            <a:off x="640080" y="5760720"/>
            <a:ext cx="548640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측정 원리</a:t>
            </a:r>
            <a:endParaRPr lang="en-US" sz="1450" dirty="0"/>
          </a:p>
        </p:txBody>
      </p:sp>
      <p:sp>
        <p:nvSpPr>
          <p:cNvPr id="11" name="Text 8"/>
          <p:cNvSpPr txBox="1"/>
          <p:nvPr/>
        </p:nvSpPr>
        <p:spPr>
          <a:xfrm>
            <a:off x="640080" y="6080760"/>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14B3F"/>
                </a:solidFill>
                <a:latin typeface="맑은 고딕" pitchFamily="34" charset="0"/>
                <a:ea typeface="맑은 고딕" pitchFamily="34" charset="-122"/>
                <a:cs typeface="맑은 고딕"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Dental cements: ZPC, PC, GIC, RMGI, ZOE(구경용)</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Glass slab / frozen glass, paper pad</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Metal spatula, plastic spatula</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Metal mold, Al foil, metal block</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E4DED2"/>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6B7568"/>
                </a:solidFill>
                <a:latin typeface="맑은 고딕" pitchFamily="34" charset="0"/>
                <a:ea typeface="맑은 고딕" pitchFamily="34" charset="-122"/>
                <a:cs typeface="맑은 고딕"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E4DED2"/>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6B7568"/>
                </a:solidFill>
                <a:latin typeface="맑은 고딕" pitchFamily="34" charset="0"/>
                <a:ea typeface="맑은 고딕" pitchFamily="34" charset="-122"/>
                <a:cs typeface="맑은 고딕"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14B3F"/>
                </a:solidFill>
                <a:latin typeface="맑은 고딕" pitchFamily="34" charset="0"/>
                <a:ea typeface="맑은 고딕" pitchFamily="34" charset="-122"/>
                <a:cs typeface="맑은 고딕"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ZPC(정상/±15%/냉각판 조건)</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Slide glass 2매</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Metal spatula, cotton swab</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Micrometer(두께 측정기)</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하중장치(150N, load compressor)</a:t>
            </a:r>
            <a:endParaRPr lang="en-US" sz="1250" dirty="0"/>
          </a:p>
        </p:txBody>
      </p:sp>
      <p:pic>
        <p:nvPicPr>
          <p:cNvPr id="16" name="Image 2" descr="/home/user/-/수복치과재료학실험/dental_photos/insert/photo_05.jpg">    </p:cNvPr>
          <p:cNvPicPr>
            <a:picLocks noChangeAspect="1"/>
          </p:cNvPicPr>
          <p:nvPr/>
        </p:nvPicPr>
        <p:blipFill>
          <a:blip r:embed="rId3"/>
          <a:srcRect l="0" r="0" t="0" b="0"/>
          <a:stretch/>
        </p:blipFill>
        <p:spPr>
          <a:xfrm>
            <a:off x="7612380" y="3794760"/>
            <a:ext cx="2651760" cy="1988820"/>
          </a:xfrm>
          <a:prstGeom prst="rect">
            <a:avLst/>
          </a:prstGeom>
        </p:spPr>
      </p:pic>
      <p:sp>
        <p:nvSpPr>
          <p:cNvPr id="17" name="Shape 12"/>
          <p:cNvSpPr/>
          <p:nvPr/>
        </p:nvSpPr>
        <p:spPr>
          <a:xfrm>
            <a:off x="7612380" y="3794760"/>
            <a:ext cx="2651760" cy="1988820"/>
          </a:xfrm>
          <a:prstGeom prst="rect">
            <a:avLst/>
          </a:prstGeom>
          <a:ln w="12700">
            <a:solidFill>
              <a:srgbClr val="E4DED2"/>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6B7568"/>
                </a:solidFill>
                <a:latin typeface="맑은 고딕" pitchFamily="34" charset="0"/>
                <a:ea typeface="맑은 고딕" pitchFamily="34" charset="-122"/>
                <a:cs typeface="맑은 고딕" pitchFamily="34" charset="-120"/>
              </a:rPr>
              <a:t>필름두께 측정기 (하중장치)</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실험 방법</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5577840" cy="2743200"/>
        </p:xfrm>
        <a:graphic>
          <a:graphicData uri="http://schemas.openxmlformats.org/drawingml/2006/table">
            <a:tbl>
              <a:tblPr/>
              <a:tblGrid>
                <a:gridCol w="1188720"/>
                <a:gridCol w="2743200"/>
                <a:gridCol w="1645920"/>
              </a:tblGrid>
              <a:tr h="347472">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 / 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높음(High)</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낮음(Low)</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42900">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1:1 auto-mixing tip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bl>
          </a:graphicData>
        </a:graphic>
      </p:graphicFrame>
      <p:sp>
        <p:nvSpPr>
          <p:cNvPr id="6" name="Text 3"/>
          <p:cNvSpPr txBox="1"/>
          <p:nvPr/>
        </p:nvSpPr>
        <p:spPr>
          <a:xfrm>
            <a:off x="6492240" y="1508760"/>
            <a:ext cx="5166360"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② Mixing 절차 (공통)</a:t>
            </a:r>
            <a:endParaRPr lang="en-US" sz="1450" dirty="0"/>
          </a:p>
        </p:txBody>
      </p:sp>
      <p:sp>
        <p:nvSpPr>
          <p:cNvPr id="7" name="Text 4"/>
          <p:cNvSpPr txBox="1"/>
          <p:nvPr/>
        </p:nvSpPr>
        <p:spPr>
          <a:xfrm>
            <a:off x="6492240" y="1874520"/>
            <a:ext cx="3017520" cy="2743200"/>
          </a:xfrm>
          <a:prstGeom prst="rect">
            <a:avLst/>
          </a:prstGeom>
          <a:noFill/>
          <a:ln/>
        </p:spPr>
        <p:txBody>
          <a:bodyPr wrap="square" lIns="0" tIns="0" rIns="0" bIns="0" rtlCol="0" anchor="t"/>
          <a:lstStyle/>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Powder를 scoop 수에 맞춰 먼저 덜어냄 (포션끼리 합치지 않음)</a:t>
            </a:r>
            <a:endParaRPr lang="en-US" sz="1150" dirty="0"/>
          </a:p>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Mix 시작 직전에 liquid를 방울 단위로 옆에 떨어뜨림</a:t>
            </a:r>
            <a:endParaRPr lang="en-US" sz="1150" dirty="0"/>
          </a:p>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떨어뜨린 liquid는 하나로 합쳐 넓게 폄</a:t>
            </a:r>
            <a:endParaRPr lang="en-US" sz="1150" dirty="0"/>
          </a:p>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Liquid 위로 powder를 나눠 첨가하며 혼합 (한꺼번에 X)</a:t>
            </a:r>
            <a:endParaRPr lang="en-US" sz="1150" dirty="0"/>
          </a:p>
          <a:p>
            <a:pPr indent="0" marL="0">
              <a:lnSpc>
                <a:spcPct val="140000"/>
              </a:lnSpc>
              <a:buNone/>
            </a:pPr>
            <a:r>
              <a:rPr lang="en-US" sz="1150" dirty="0">
                <a:solidFill>
                  <a:srgbClr val="1C2321"/>
                </a:solidFill>
                <a:latin typeface="맑은 고딕" pitchFamily="34" charset="0"/>
                <a:ea typeface="맑은 고딕" pitchFamily="34" charset="-122"/>
                <a:cs typeface="맑은 고딕" pitchFamily="34" charset="-120"/>
              </a:rPr>
              <a:t>•  가급적 빠른 시간 내에 혼합 완료</a:t>
            </a:r>
            <a:endParaRPr lang="en-US" sz="115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692640" y="1874520"/>
            <a:ext cx="2148840" cy="1611630"/>
          </a:xfrm>
          <a:prstGeom prst="rect">
            <a:avLst/>
          </a:prstGeom>
        </p:spPr>
      </p:pic>
      <p:sp>
        <p:nvSpPr>
          <p:cNvPr id="9" name="Shape 5"/>
          <p:cNvSpPr/>
          <p:nvPr/>
        </p:nvSpPr>
        <p:spPr>
          <a:xfrm>
            <a:off x="9692640" y="1874520"/>
            <a:ext cx="2148840" cy="1611630"/>
          </a:xfrm>
          <a:prstGeom prst="rect">
            <a:avLst/>
          </a:prstGeom>
          <a:ln w="12700">
            <a:solidFill>
              <a:srgbClr val="E4DED2"/>
            </a:solidFill>
            <a:prstDash val="solid"/>
          </a:ln>
        </p:spPr>
      </p:sp>
      <p:sp>
        <p:nvSpPr>
          <p:cNvPr id="10" name="Text 6"/>
          <p:cNvSpPr txBox="1"/>
          <p:nvPr/>
        </p:nvSpPr>
        <p:spPr>
          <a:xfrm>
            <a:off x="9692640" y="351358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6B7568"/>
                </a:solidFill>
                <a:latin typeface="맑은 고딕" pitchFamily="34" charset="0"/>
                <a:ea typeface="맑은 고딕" pitchFamily="34" charset="-122"/>
                <a:cs typeface="맑은 고딕" pitchFamily="34" charset="-120"/>
              </a:rPr>
              <a:t>Mixing 과정 (spatula)</a:t>
            </a:r>
            <a:endParaRPr lang="en-US" sz="1100" dirty="0"/>
          </a:p>
        </p:txBody>
      </p:sp>
      <p:sp>
        <p:nvSpPr>
          <p:cNvPr id="11" name="Text 7"/>
          <p:cNvSpPr txBox="1"/>
          <p:nvPr/>
        </p:nvSpPr>
        <p:spPr>
          <a:xfrm>
            <a:off x="640080" y="4956048"/>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③ Setting time / Film thickness 측정</a:t>
            </a:r>
            <a:endParaRPr lang="en-US" sz="1450" dirty="0"/>
          </a:p>
        </p:txBody>
      </p:sp>
      <p:sp>
        <p:nvSpPr>
          <p:cNvPr id="12" name="Text 8"/>
          <p:cNvSpPr txBox="1"/>
          <p:nvPr/>
        </p:nvSpPr>
        <p:spPr>
          <a:xfrm>
            <a:off x="640080" y="5285232"/>
            <a:ext cx="8229600" cy="1371600"/>
          </a:xfrm>
          <a:prstGeom prst="rect">
            <a:avLst/>
          </a:prstGeom>
          <a:noFill/>
          <a:ln/>
        </p:spPr>
        <p:txBody>
          <a:bodyPr wrap="square" lIns="0" tIns="0" rIns="0" bIns="0" rtlCol="0" anchor="t"/>
          <a:lstStyle/>
          <a:p>
            <a:pPr indent="0" marL="0">
              <a:lnSpc>
                <a:spcPct val="140000"/>
              </a:lnSpc>
              <a:buNone/>
            </a:pPr>
            <a:r>
              <a:rPr lang="en-US" sz="1100" dirty="0">
                <a:solidFill>
                  <a:srgbClr val="1C2321"/>
                </a:solidFill>
                <a:latin typeface="맑은 고딕" pitchFamily="34" charset="0"/>
                <a:ea typeface="맑은 고딕" pitchFamily="34" charset="-122"/>
                <a:cs typeface="맑은 고딕" pitchFamily="34" charset="-120"/>
              </a:rPr>
              <a:t>•  Setting time: 검정 사각 금속 주형을 Al foil로 덮은 metal block에 올리고 mix 완료 재료를 채움 → 혼합 종료 90초 후부터 indentor를 수직으로 5초간 압입, 30초 간격 반복 → 예상 경화시점 30초 전부터 10초 간격으로 전환 → 완전한 원형 압흔이 안 남는 시점 기록</a:t>
            </a:r>
            <a:endParaRPr lang="en-US" sz="1100" dirty="0"/>
          </a:p>
          <a:p>
            <a:pPr indent="0" marL="0">
              <a:lnSpc>
                <a:spcPct val="140000"/>
              </a:lnSpc>
              <a:buNone/>
            </a:pPr>
            <a:r>
              <a:rPr lang="en-US" sz="1100" dirty="0">
                <a:solidFill>
                  <a:srgbClr val="1C2321"/>
                </a:solidFill>
                <a:latin typeface="맑은 고딕" pitchFamily="34" charset="0"/>
                <a:ea typeface="맑은 고딕" pitchFamily="34" charset="-122"/>
                <a:cs typeface="맑은 고딕" pitchFamily="34" charset="-120"/>
              </a:rPr>
              <a:t>•  Film thickness: 유리판 2매를 포개어 접촉 상태 두께 선측정(A) → 혼합 종료 cement 0.10mL을 유리판 사이 중앙에 위치 → 작업시간 10초 전부터 하중장치로 150N을 10분간 적용 → 재측정(B) → 피막도 = B − A</a:t>
            </a:r>
            <a:endParaRPr lang="en-US" sz="1100" dirty="0"/>
          </a:p>
        </p:txBody>
      </p:sp>
      <p:sp>
        <p:nvSpPr>
          <p:cNvPr id="13" name="Text 9"/>
          <p:cNvSpPr txBox="1"/>
          <p:nvPr/>
        </p:nvSpPr>
        <p:spPr>
          <a:xfrm>
            <a:off x="640080" y="6492240"/>
            <a:ext cx="8229600" cy="292608"/>
          </a:xfrm>
          <a:prstGeom prst="rect">
            <a:avLst/>
          </a:prstGeom>
          <a:noFill/>
          <a:ln/>
        </p:spPr>
        <p:txBody>
          <a:bodyPr wrap="square" lIns="0" tIns="0" rIns="0" bIns="0" rtlCol="0" anchor="ctr"/>
          <a:lstStyle/>
          <a:p>
            <a:pPr indent="0" marL="0">
              <a:lnSpc>
                <a:spcPct val="115000"/>
              </a:lnSpc>
              <a:buNone/>
            </a:pPr>
            <a:r>
              <a:rPr lang="en-US" sz="900" i="1" dirty="0">
                <a:solidFill>
                  <a:srgbClr val="6B7568"/>
                </a:solidFill>
                <a:latin typeface="맑은 고딕" pitchFamily="34" charset="0"/>
                <a:ea typeface="맑은 고딕" pitchFamily="34" charset="-122"/>
                <a:cs typeface="맑은 고딕" pitchFamily="34" charset="-120"/>
              </a:rPr>
              <a:t>※ ISO 9917-1 규격 문서는 시멘트량을 0.1g으로 표기하나, 실제 강의 프로토콜은 0.10mL 기준 — 단위 표기 차이이며 비중 차로 실질량은 유사.</a:t>
            </a:r>
            <a:endParaRPr lang="en-US" sz="900" dirty="0"/>
          </a:p>
        </p:txBody>
      </p:sp>
      <p:pic>
        <p:nvPicPr>
          <p:cNvPr id="14" name="Image 1" descr="/home/user/-/수복치과재료학실험/dental_photos/insert/photo_02.jpg">    </p:cNvPr>
          <p:cNvPicPr>
            <a:picLocks noChangeAspect="1"/>
          </p:cNvPicPr>
          <p:nvPr/>
        </p:nvPicPr>
        <p:blipFill>
          <a:blip r:embed="rId2"/>
          <a:srcRect l="0" r="0" t="0" b="0"/>
          <a:stretch/>
        </p:blipFill>
        <p:spPr>
          <a:xfrm>
            <a:off x="9189720" y="5285232"/>
            <a:ext cx="1463040" cy="1097280"/>
          </a:xfrm>
          <a:prstGeom prst="rect">
            <a:avLst/>
          </a:prstGeom>
        </p:spPr>
      </p:pic>
      <p:sp>
        <p:nvSpPr>
          <p:cNvPr id="15" name="Shape 10"/>
          <p:cNvSpPr/>
          <p:nvPr/>
        </p:nvSpPr>
        <p:spPr>
          <a:xfrm>
            <a:off x="9189720" y="5285232"/>
            <a:ext cx="1463040" cy="1097280"/>
          </a:xfrm>
          <a:prstGeom prst="rect">
            <a:avLst/>
          </a:prstGeom>
          <a:ln w="12700">
            <a:solidFill>
              <a:srgbClr val="E4DED2"/>
            </a:solidFill>
            <a:prstDash val="solid"/>
          </a:ln>
        </p:spPr>
      </p:sp>
      <p:sp>
        <p:nvSpPr>
          <p:cNvPr id="16" name="Text 11"/>
          <p:cNvSpPr txBox="1"/>
          <p:nvPr/>
        </p:nvSpPr>
        <p:spPr>
          <a:xfrm>
            <a:off x="9189720" y="6409944"/>
            <a:ext cx="14630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6B7568"/>
                </a:solidFill>
                <a:latin typeface="맑은 고딕" pitchFamily="34" charset="0"/>
                <a:ea typeface="맑은 고딕" pitchFamily="34" charset="-122"/>
                <a:cs typeface="맑은 고딕" pitchFamily="34" charset="-120"/>
              </a:rPr>
              <a:t>Setting time — 금속 몰드</a:t>
            </a:r>
            <a:endParaRPr lang="en-US" sz="1100" dirty="0"/>
          </a:p>
        </p:txBody>
      </p:sp>
      <p:sp>
        <p:nvSpPr>
          <p:cNvPr id="17" name="Text 12"/>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조건별 경화시간(setting time) 및 유리판 측정값</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3520440"/>
        </p:xfrm>
        <a:graphic>
          <a:graphicData uri="http://schemas.openxmlformats.org/drawingml/2006/table">
            <a:tbl>
              <a:tblPr/>
              <a:tblGrid>
                <a:gridCol w="822960"/>
                <a:gridCol w="1737360"/>
                <a:gridCol w="1051560"/>
                <a:gridCol w="1874520"/>
                <a:gridCol w="1234440"/>
                <a:gridCol w="1371600"/>
                <a:gridCol w="1097280"/>
                <a:gridCol w="1463040"/>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재료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조건</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Scoop/Drop</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유리판 측정값 (A/B,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피막도(B−A, mm)</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Total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Mixing</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Setting time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9.464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17:50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16:20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높음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9.464 / 9.474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0.010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14:15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12:45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낮음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18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9.466 / 9.470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0.004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18:16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16:46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15% 높음 + 냉각판</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9.466 / 9.486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0.020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13:33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1:30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12:03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PC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9</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10:26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0:45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9:41</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GIC</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정상 P/L</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3 / 6</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9:08</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0:25</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8:43</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RMGI</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1:1 auto-mix</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9.466 / 9.480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0.014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0:00</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6:24</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333756">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ZOE</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적당량(시연만)</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50" dirty="0">
                          <a:solidFill>
                            <a:srgbClr val="1C2321"/>
                          </a:solidFill>
                          <a:latin typeface="맑은 고딕" pitchFamily="34" charset="0"/>
                          <a:ea typeface="맑은 고딕" pitchFamily="34" charset="-122"/>
                          <a:cs typeface="맑은 고딕" pitchFamily="34" charset="-120"/>
                        </a:rPr>
                        <a:t>-</a:t>
                      </a:r>
                      <a:endParaRPr lang="en-US" sz="115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bl>
          </a:graphicData>
        </a:graphic>
      </p:graphicFrame>
      <p:sp>
        <p:nvSpPr>
          <p:cNvPr id="5" name="Text 2"/>
          <p:cNvSpPr txBox="1"/>
          <p:nvPr/>
        </p:nvSpPr>
        <p:spPr>
          <a:xfrm>
            <a:off x="640080" y="5440680"/>
            <a:ext cx="10908792" cy="457200"/>
          </a:xfrm>
          <a:prstGeom prst="rect">
            <a:avLst/>
          </a:prstGeom>
          <a:noFill/>
          <a:ln/>
        </p:spPr>
        <p:txBody>
          <a:bodyPr wrap="square" lIns="0" tIns="0" rIns="0" bIns="0" rtlCol="0" anchor="ctr"/>
          <a:lstStyle/>
          <a:p>
            <a:pPr indent="0" marL="0">
              <a:lnSpc>
                <a:spcPct val="120000"/>
              </a:lnSpc>
              <a:buNone/>
            </a:pPr>
            <a:r>
              <a:rPr lang="en-US" sz="1100" i="1" dirty="0">
                <a:solidFill>
                  <a:srgbClr val="6B7568"/>
                </a:solidFill>
                <a:latin typeface="맑은 고딕" pitchFamily="34" charset="0"/>
                <a:ea typeface="맑은 고딕" pitchFamily="34" charset="-122"/>
                <a:cs typeface="맑은 고딕" pitchFamily="34" charset="-120"/>
              </a:rPr>
              <a:t>※ Setting time(경화시간) = Total time − Mixing time. ZPC는 mixing time 1:30(수업 노트의 "1분에서 +30초까지" 구간 기준), RMGI는 auto-mixing으로 0:00으로 보고 계산. 유리판 측정값·피막도 모두 mm 단위(예: 9.480−9.464=0.016mm) — 원본 raw data 수정본(9.27) 반영.</a:t>
            </a:r>
            <a:endParaRPr lang="en-US" sz="1100" dirty="0"/>
          </a:p>
        </p:txBody>
      </p:sp>
      <p:sp>
        <p:nvSpPr>
          <p:cNvPr id="6" name="Shape 3"/>
          <p:cNvSpPr/>
          <p:nvPr/>
        </p:nvSpPr>
        <p:spPr>
          <a:xfrm>
            <a:off x="640080" y="5943600"/>
            <a:ext cx="10908792" cy="502920"/>
          </a:xfrm>
          <a:prstGeom prst="roundRect">
            <a:avLst>
              <a:gd name="adj" fmla="val 14545"/>
            </a:avLst>
          </a:prstGeom>
          <a:solidFill>
            <a:srgbClr val="FFFFFF"/>
          </a:solidFill>
          <a:ln/>
        </p:spPr>
      </p:sp>
      <p:sp>
        <p:nvSpPr>
          <p:cNvPr id="7" name="Text 4"/>
          <p:cNvSpPr txBox="1"/>
          <p:nvPr/>
        </p:nvSpPr>
        <p:spPr>
          <a:xfrm>
            <a:off x="868680" y="5943600"/>
            <a:ext cx="10451592" cy="502920"/>
          </a:xfrm>
          <a:prstGeom prst="rect">
            <a:avLst/>
          </a:prstGeom>
          <a:noFill/>
          <a:ln/>
        </p:spPr>
        <p:txBody>
          <a:bodyPr wrap="square" lIns="0" tIns="0" rIns="0" bIns="0" rtlCol="0" anchor="ctr"/>
          <a:lstStyle/>
          <a:p>
            <a:pPr indent="0" marL="0">
              <a:buNone/>
            </a:pPr>
            <a:r>
              <a:rPr lang="en-US" sz="1200" b="1" dirty="0">
                <a:solidFill>
                  <a:srgbClr val="114B3F"/>
                </a:solidFill>
                <a:latin typeface="맑은 고딕" pitchFamily="34" charset="0"/>
                <a:ea typeface="맑은 고딕" pitchFamily="34" charset="-122"/>
                <a:cs typeface="맑은 고딕"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조별 데이터 종합 비교 — 6개 조 평균(A반 취합)</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6B7568"/>
                </a:solidFill>
                <a:latin typeface="맑은 고딕" pitchFamily="34" charset="0"/>
                <a:ea typeface="맑은 고딕" pitchFamily="34" charset="-122"/>
                <a:cs typeface="맑은 고딕"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6B7568"/>
                </a:solidFill>
                <a:latin typeface="맑은 고딕" pitchFamily="34" charset="0"/>
                <a:ea typeface="맑은 고딕" pitchFamily="34" charset="-122"/>
                <a:cs typeface="맑은 고딕"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조별 경향성 &amp; 우리 조(A2) 위치</a:t>
            </a:r>
            <a:endParaRPr lang="en-US" sz="2400" dirty="0"/>
          </a:p>
        </p:txBody>
      </p:sp>
      <p:sp>
        <p:nvSpPr>
          <p:cNvPr id="4" name="Text 2"/>
          <p:cNvSpPr txBox="1"/>
          <p:nvPr/>
        </p:nvSpPr>
        <p:spPr>
          <a:xfrm>
            <a:off x="640080" y="146304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전체 조 경향성 (Setting time, 6개 조 평균)</a:t>
            </a:r>
            <a:endParaRPr lang="en-US" sz="1450" dirty="0"/>
          </a:p>
        </p:txBody>
      </p:sp>
      <p:sp>
        <p:nvSpPr>
          <p:cNvPr id="5" name="Text 3"/>
          <p:cNvSpPr txBox="1"/>
          <p:nvPr/>
        </p:nvSpPr>
        <p:spPr>
          <a:xfrm>
            <a:off x="640080" y="1810512"/>
            <a:ext cx="10908792" cy="1143000"/>
          </a:xfrm>
          <a:prstGeom prst="rect">
            <a:avLst/>
          </a:prstGeom>
          <a:noFill/>
          <a:ln/>
        </p:spPr>
        <p:txBody>
          <a:bodyPr wrap="square" lIns="0" tIns="0" rIns="0" bIns="0" rtlCol="0" anchor="t"/>
          <a:lstStyle/>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재료 간 경향도 일관됨: GIC(6:05)·RMGI(6:24)가 가장 빠르고, ZPC 계열이 전반적으로 가장 느림 — 재료 자체의 반응 속도 차이가 조건 차이보다 더 크게 작용</a:t>
            </a:r>
            <a:endParaRPr lang="en-US" sz="1250" dirty="0"/>
          </a:p>
        </p:txBody>
      </p:sp>
      <p:sp>
        <p:nvSpPr>
          <p:cNvPr id="6" name="Text 4"/>
          <p:cNvSpPr txBox="1"/>
          <p:nvPr/>
        </p:nvSpPr>
        <p:spPr>
          <a:xfrm>
            <a:off x="640080" y="301752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우리 조(A2)는 전체 평균 대비 어디에 위치하는가</a:t>
            </a:r>
            <a:endParaRPr lang="en-US" sz="1450" dirty="0"/>
          </a:p>
        </p:txBody>
      </p:sp>
      <p:sp>
        <p:nvSpPr>
          <p:cNvPr id="7" name="Text 5"/>
          <p:cNvSpPr txBox="1"/>
          <p:nvPr/>
        </p:nvSpPr>
        <p:spPr>
          <a:xfrm>
            <a:off x="640080" y="3364992"/>
            <a:ext cx="10908792" cy="1005840"/>
          </a:xfrm>
          <a:prstGeom prst="rect">
            <a:avLst/>
          </a:prstGeom>
          <a:noFill/>
          <a:ln/>
        </p:spPr>
        <p:txBody>
          <a:bodyPr wrap="square" lIns="0" tIns="0" rIns="0" bIns="0" rtlCol="0" anchor="t"/>
          <a:lstStyle/>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6개 조건 중 5개에서 전체 평균보다 느리게 경화 — 유일하게 PC 정상 조건만 평균과 거의 같음(평균 대비 −0.2 SD)</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4526280"/>
          <a:ext cx="10908792" cy="1828800"/>
        </p:xfrm>
        <a:graphic>
          <a:graphicData uri="http://schemas.openxmlformats.org/drawingml/2006/table">
            <a:tbl>
              <a:tblPr/>
              <a:tblGrid>
                <a:gridCol w="3200400"/>
                <a:gridCol w="2569464"/>
                <a:gridCol w="2569464"/>
                <a:gridCol w="2569464"/>
              </a:tblGrid>
              <a:tr h="292608">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조건</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전체 평균</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우리 조(A2)</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차이(SD 배수)</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solidFill>
                      <a:srgbClr val="114B3F"/>
                    </a:solidFill>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13:13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16:46</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ZPC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11:13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16:20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+1.3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ZPC 15%↑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7:40</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12:45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ZPC 15%↑+냉각판</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10:07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12:03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+0.9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PC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10:17</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9:41</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−0.2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r h="256032">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GIC 정상</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6:05</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8:43</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c>
                  <a:txBody>
                    <a:bodyPr/>
                    <a:lstStyle/>
                    <a:p>
                      <a:pPr algn="ctr" indent="0" marL="0">
                        <a:buNone/>
                      </a:pPr>
                      <a:r>
                        <a:rPr lang="en-US" sz="1100" dirty="0">
                          <a:solidFill>
                            <a:srgbClr val="1C2321"/>
                          </a:solidFill>
                          <a:latin typeface="맑은 고딕" pitchFamily="34" charset="0"/>
                          <a:ea typeface="맑은 고딕" pitchFamily="34" charset="-122"/>
                          <a:cs typeface="맑은 고딕" pitchFamily="34" charset="-120"/>
                        </a:rPr>
                        <a:t>+1.7 SD</a:t>
                      </a:r>
                      <a:endParaRPr lang="en-US" sz="1100" dirty="0">
                        <a:latin typeface="맑은 고딕" charset="0"/>
                        <a:ea typeface="맑은 고딕" charset="0"/>
                        <a:cs typeface="맑은 고딕" charset="0"/>
                      </a:endParaRPr>
                    </a:p>
                  </a:txBody>
                  <a:tcPr marL="82296" marR="82296" marT="54864" marB="54864" anchor="ctr">
                    <a:lnL w="6350" cap="flat" cmpd="sng" algn="ctr">
                      <a:solidFill>
                        <a:srgbClr val="E4DED2"/>
                      </a:solidFill>
                      <a:prstDash val="solid"/>
                      <a:round/>
                      <a:headEnd type="none" w="med" len="med"/>
                      <a:tailEnd type="none" w="med" len="med"/>
                    </a:lnL>
                    <a:lnR w="6350" cap="flat" cmpd="sng" algn="ctr">
                      <a:solidFill>
                        <a:srgbClr val="E4DED2"/>
                      </a:solidFill>
                      <a:prstDash val="solid"/>
                      <a:round/>
                      <a:headEnd type="none" w="med" len="med"/>
                      <a:tailEnd type="none" w="med" len="med"/>
                    </a:lnR>
                    <a:lnT w="6350" cap="flat" cmpd="sng" algn="ctr">
                      <a:solidFill>
                        <a:srgbClr val="E4DED2"/>
                      </a:solidFill>
                      <a:prstDash val="solid"/>
                      <a:round/>
                      <a:headEnd type="none" w="med" len="med"/>
                      <a:tailEnd type="none" w="med" len="med"/>
                    </a:lnT>
                    <a:lnB w="6350" cap="flat" cmpd="sng" algn="ctr">
                      <a:solidFill>
                        <a:srgbClr val="E4DED2"/>
                      </a:solidFill>
                      <a:prstDash val="solid"/>
                      <a:round/>
                      <a:headEnd type="none" w="med" len="med"/>
                      <a:tailEnd type="none" w="med" len="med"/>
                    </a:lnB>
                  </a:tcPr>
                </a:tc>
              </a:tr>
            </a:tbl>
          </a:graphicData>
        </a:graphic>
      </p:graphicFrame>
      <p:sp>
        <p:nvSpPr>
          <p:cNvPr id="9"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고찰</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결과 해석 및 고찰</a:t>
            </a:r>
            <a:endParaRPr lang="en-US" sz="2400" dirty="0"/>
          </a:p>
        </p:txBody>
      </p:sp>
      <p:sp>
        <p:nvSpPr>
          <p:cNvPr id="4" name="Text 2"/>
          <p:cNvSpPr txBox="1"/>
          <p:nvPr/>
        </p:nvSpPr>
        <p:spPr>
          <a:xfrm>
            <a:off x="640080" y="155448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① P/L ratio와 경화시간</a:t>
            </a:r>
            <a:endParaRPr lang="en-US" sz="1450" dirty="0"/>
          </a:p>
        </p:txBody>
      </p:sp>
      <p:sp>
        <p:nvSpPr>
          <p:cNvPr id="5" name="Text 3"/>
          <p:cNvSpPr txBox="1"/>
          <p:nvPr/>
        </p:nvSpPr>
        <p:spPr>
          <a:xfrm>
            <a:off x="640080" y="1920240"/>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321"/>
                </a:solidFill>
                <a:latin typeface="맑은 고딕" pitchFamily="34" charset="0"/>
                <a:ea typeface="맑은 고딕" pitchFamily="34" charset="-122"/>
                <a:cs typeface="맑은 고딕"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321"/>
                </a:solidFill>
                <a:latin typeface="맑은 고딕" pitchFamily="34" charset="0"/>
                <a:ea typeface="맑은 고딕" pitchFamily="34" charset="-122"/>
                <a:cs typeface="맑은 고딕"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42900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② 냉각판(frozen slab) 효과</a:t>
            </a:r>
            <a:endParaRPr lang="en-US" sz="1450" dirty="0"/>
          </a:p>
        </p:txBody>
      </p:sp>
      <p:sp>
        <p:nvSpPr>
          <p:cNvPr id="7" name="Text 5"/>
          <p:cNvSpPr txBox="1"/>
          <p:nvPr/>
        </p:nvSpPr>
        <p:spPr>
          <a:xfrm>
            <a:off x="640080" y="3794760"/>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321"/>
                </a:solidFill>
                <a:latin typeface="맑은 고딕" pitchFamily="34" charset="0"/>
                <a:ea typeface="맑은 고딕" pitchFamily="34" charset="-122"/>
                <a:cs typeface="맑은 고딕" pitchFamily="34" charset="-120"/>
              </a:rPr>
              <a:t>•  이론: 온도가 낮을수록 분자 운동성·반응성이 저하되어 작업시간은 길어지고 경화시간도 길어질 것으로 예상됨</a:t>
            </a:r>
            <a:endParaRPr lang="en-US" sz="1300" dirty="0"/>
          </a:p>
          <a:p>
            <a:pPr indent="0" marL="0">
              <a:lnSpc>
                <a:spcPct val="140000"/>
              </a:lnSpc>
              <a:buNone/>
            </a:pPr>
            <a:r>
              <a:rPr lang="en-US" sz="1300" dirty="0">
                <a:solidFill>
                  <a:srgbClr val="1C2321"/>
                </a:solidFill>
                <a:latin typeface="맑은 고딕" pitchFamily="34" charset="0"/>
                <a:ea typeface="맑은 고딕" pitchFamily="34" charset="-122"/>
                <a:cs typeface="맑은 고딕" pitchFamily="34" charset="-120"/>
              </a:rPr>
              <a:t>•  실측: 냉각판(setting 12:03)이 동일 조건 상온(setting 12:45)보다 오히려 짧게 나옴 — 예상과 반대 방향. 다만 작업시간(working time) 자체는 별도로 측정하지 못해 직접 비교는 어려움, 경화시간만으로 임의 추정한 결과</a:t>
            </a:r>
            <a:endParaRPr lang="en-US" sz="1300" dirty="0"/>
          </a:p>
        </p:txBody>
      </p:sp>
      <p:sp>
        <p:nvSpPr>
          <p:cNvPr id="8" name="Text 6"/>
          <p:cNvSpPr txBox="1"/>
          <p:nvPr/>
        </p:nvSpPr>
        <p:spPr>
          <a:xfrm>
            <a:off x="640080" y="5212080"/>
            <a:ext cx="10908792" cy="347472"/>
          </a:xfrm>
          <a:prstGeom prst="rect">
            <a:avLst/>
          </a:prstGeom>
          <a:noFill/>
          <a:ln/>
        </p:spPr>
        <p:txBody>
          <a:bodyPr wrap="square" lIns="0" tIns="0" rIns="0" bIns="0" rtlCol="0" anchor="ctr"/>
          <a:lstStyle/>
          <a:p>
            <a:pPr indent="0" marL="0">
              <a:buNone/>
            </a:pPr>
            <a:r>
              <a:rPr lang="en-US" sz="1450" b="1" dirty="0">
                <a:solidFill>
                  <a:srgbClr val="114B3F"/>
                </a:solidFill>
                <a:latin typeface="맑은 고딕" pitchFamily="34" charset="0"/>
                <a:ea typeface="맑은 고딕" pitchFamily="34" charset="-122"/>
                <a:cs typeface="맑은 고딕" pitchFamily="34" charset="-120"/>
              </a:rPr>
              <a:t>③ 재료별 특성 · 제조사 공식 값과의 비교</a:t>
            </a:r>
            <a:endParaRPr lang="en-US" sz="1450" dirty="0"/>
          </a:p>
        </p:txBody>
      </p:sp>
      <p:sp>
        <p:nvSpPr>
          <p:cNvPr id="9" name="Text 7"/>
          <p:cNvSpPr txBox="1"/>
          <p:nvPr/>
        </p:nvSpPr>
        <p:spPr>
          <a:xfrm>
            <a:off x="640080" y="5577840"/>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321"/>
                </a:solidFill>
                <a:latin typeface="맑은 고딕" pitchFamily="34" charset="0"/>
                <a:ea typeface="맑은 고딕" pitchFamily="34" charset="-122"/>
                <a:cs typeface="맑은 고딕"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5"/>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14B3F"/>
          </a:solidFill>
          <a:ln/>
        </p:spPr>
      </p:sp>
      <p:sp>
        <p:nvSpPr>
          <p:cNvPr id="3" name="Shape 1"/>
          <p:cNvSpPr/>
          <p:nvPr/>
        </p:nvSpPr>
        <p:spPr>
          <a:xfrm>
            <a:off x="-2286000" y="3657600"/>
            <a:ext cx="5486400" cy="5486400"/>
          </a:xfrm>
          <a:prstGeom prst="ellipse">
            <a:avLst/>
          </a:prstGeom>
          <a:solidFill>
            <a:srgbClr val="0B332A"/>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F2704A"/>
                </a:solidFill>
                <a:latin typeface="맑은 고딕" pitchFamily="34" charset="0"/>
                <a:ea typeface="맑은 고딕" pitchFamily="34" charset="-122"/>
                <a:cs typeface="맑은 고딕"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맑은 고딕" pitchFamily="34" charset="0"/>
                <a:ea typeface="맑은 고딕" pitchFamily="34" charset="-122"/>
                <a:cs typeface="맑은 고딕"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분액비가 높을수록 경화시간이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냉각판(저온) 조건은 이론상 경화 지연을 예상했으나 실측은 반대 — 작업시간·경화시간을 분리 측정하지 못한 한계</a:t>
            </a:r>
            <a:endParaRPr lang="en-US" sz="1400" dirty="0"/>
          </a:p>
          <a:p>
            <a:pPr indent="0" marL="0">
              <a:lnSpc>
                <a:spcPct val="140000"/>
              </a:lnSpc>
              <a:buNone/>
            </a:pPr>
            <a:r>
              <a:rPr lang="en-US" sz="1400" dirty="0">
                <a:solidFill>
                  <a:srgbClr val="FFFFFF"/>
                </a:solidFill>
                <a:latin typeface="맑은 고딕" pitchFamily="34" charset="0"/>
                <a:ea typeface="맑은 고딕" pitchFamily="34" charset="-122"/>
                <a:cs typeface="맑은 고딕"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5"/>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F2704A"/>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14B3F"/>
                </a:solidFill>
                <a:latin typeface="맑은 고딕" pitchFamily="34" charset="0"/>
                <a:ea typeface="맑은 고딕" pitchFamily="34" charset="-122"/>
                <a:cs typeface="맑은 고딕"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321"/>
                </a:solidFill>
                <a:latin typeface="맑은 고딕" pitchFamily="34" charset="0"/>
                <a:ea typeface="맑은 고딕" pitchFamily="34" charset="-122"/>
                <a:cs typeface="맑은 고딕"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321"/>
                </a:solidFill>
                <a:latin typeface="맑은 고딕" pitchFamily="34" charset="0"/>
                <a:ea typeface="맑은 고딕" pitchFamily="34" charset="-122"/>
                <a:cs typeface="맑은 고딕"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321"/>
                </a:solidFill>
                <a:latin typeface="맑은 고딕" pitchFamily="34" charset="0"/>
                <a:ea typeface="맑은 고딕" pitchFamily="34" charset="-122"/>
                <a:cs typeface="맑은 고딕"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321"/>
                </a:solidFill>
                <a:latin typeface="맑은 고딕" pitchFamily="34" charset="0"/>
                <a:ea typeface="맑은 고딕" pitchFamily="34" charset="-122"/>
                <a:cs typeface="맑은 고딕"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6B7568"/>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2026-09-29T06:27:36Z</dcterms:created>
  <dcterms:modified xsi:type="dcterms:W3CDTF">2026-09-29T06:27:36Z</dcterms:modified>
</cp:coreProperties>
</file>