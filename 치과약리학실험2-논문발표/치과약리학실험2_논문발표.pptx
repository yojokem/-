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세포질 수용체와 결합한 뒤 이량체화되어 핵으로 이동하고, COX-2를 비롯한 염증유전자의 전사를 억제합니다. 그런데 동시에 파골세포형성을 직접 자극하고 콜라게나아제 활성도 높여서, 골흡수를 가장 강하게 촉진합니다. 치과약리학 교안(34장)에도 코르티코스테로이드의 골격계 작용으로 조골세포 활성은 감소시키고 파골세포 활성은 증가시킨다고 나와 있습니다.
비타민D는 비타민D수용체, VDR에 결합해서 표적유전자 발현을 조절하는 방식으로 파골세포 활성 자체를 높이면서 면역매개체를 조절합니다. PGE2는 아라키돈산이 유도형 COX-2를 거쳐 PGE2로 전환된 뒤 EP 수용체를 통해 RANKL 발현을 유도해서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10에서 더 자세히 다루겠습니다.
[발표 팁] 구강생화학 '뼈와 치아의 석회화, 혈청칼슘 항상성' 챕터에서 배운 칼슘/인 대사 조절호르몬(비타민D, PTH 등) 내용과 연결지어 설명하면 좋음. 세 경로의 차이는 슬라이드 10(치과약리학적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3:40~4:40]
결과를 보기 전에 이 논문이 쓴 통계 방법을 간단히 짚고 가겠습니다.
먼저 Shapiro-Wilk 검정으로 데이터가 정규분포를 따르는지 확인했고, 그다음 One-way ANOVA로 5개 군 평균을 한꺼번에 비교했습니다. ANOVA는 '군 사이에 차이가 있다'까지만 알려주기 때문에, 정확히 어느 군과 어느 군이 다른지는 Tukey post-hoc 검정으로 하나하나 다시 비교합니다. 그리고 같은 군을 시점별로 비교할 때는 — 예를 들어 같은 랫드의 가속기 직후와 보정 1주 후를 비교할 때는 — paired t-test를 썼습니다.
p값은 이 차이가 우연히 나왔을 확률을 뜻하는데, 관행적으로 5% 미만이면 '통계적으로 유의하다'고 봅니다. 이 논문은 대부분 p&lt;0.001로 나와서, 우연일 가능성이 매우 낮다고 볼 수 있습니다.
[발표 팁] 이 슬라이드는 통계를 잘 모르는 청중을 위한 배경 설명 슬라이드. 너무 길게 끌지 말고 1분 이내로 넘어갈 것 — 핵심은 'ANOVA는 전체 비교, Tukey는 쌍별 비교, paired t-test는 같은 군의 전후 비교'라는 역할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4:40~5:20]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6:10~6:40]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6:40~8:00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8:00~9:00]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이건 이 연구의 국소 주입과는 별개로, 전신 코르티코스테로이드 자체가 골다공증·골괴사, 조골세포 활성 감소·파골세포 활성 증가, 성장억제 같은 부작용을 갖는다고 치과약리학 교안(34장)에 명시돼 있기 때문인데요, 장기간 전신 스테로이드를 복용 중인 환자의 치아이동 계획을 세울 때는 이 부분도 함께 고려해야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9:00~9:30]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9:30~10:15]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10:15~11:00]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
Q6. 코르티코스테로이드는 COX-2 발현을 억제해서 PGE2 생성을 줄일 텐데, 왜 치아이동 가속이 가장 컸는가?
→ 논문은 코르티코스테로이드의 가속 기전을 '염증유전자 발현 억제 + 파골세포형성 자극 + 콜라게나아제 활성 증가'로 설명할 뿐, PGE2 경로를 거친다고는 하지 않습니다. 실제로 이 연구는 COX-2·PGE2·RANKL을 직접 측정하지 않았습니다.
→ 관련 문헌을 보면, 글루코코르티코이드는 조골세포·골세포에서 RANKL과 M-CSF 발현을 높이고 OPG(osteoprotegerin)는 낮춰서 RANKL/OPG 비를 파골세포 쪽으로 기울이고, 특히 OPG 억제가 주된 경로로 보고됩니다. 즉 COX-2·PGE2를 거치지 않고도 RANKL 축을 직접 열 수 있어서, 치과약리학 교안(34장)의 '조골세포↓·파골세포↑'와도 맞습니다.
→ 다만 동물 치아이동 문헌 자체가 용량·기간에 따라 엇갈립니다. 코르티코스테로이드 동물 연구 리뷰에서는 실험 기간 3~49일, 용량 0.5~15mg/kg 범위에서 감소 2편·무영향 2편·증가 2편으로 갈렸고, 고용량 히드로코르티손(15mg/kg)을 쓴 토끼 연구에서는 치아이동이 3~4배 빨랐습니다. 또 장기 투여에서는 파골세포 수명은 늘지만 흡수 능력 자체는 떨어진다는 보고도 있어서, 이 연구의 고용량·매일 국소주입 조건이 가속 쪽으로 작용했다고 해석할 수 있습니다(이 해석은 추정입니다).
→ 정리하면 '기전은 문헌에 근거한 추정이고, 이 연구가 직접 검증한 건 아니어서 COX-2·PGE2·RANKL/OPG 측정이 후속 연구 과제'라고 답하면 됩니다.
[Q6 근거 문헌] (1) Pathogenic mechanisms of glucocorticoid-induced osteoporosis (PMC10518688) — RANKL·M-CSF 상승, OPG 감소. (2) Cortical bone loss caused by glucocorticoid excess requires RANKL production by osteocytes, Am J Physiol Endocrinol Metab (doi:10.1152/ajpendo.00219.2016). (3) Influence of corticosteroid therapy on orthodontic tooth movement: a narrative review of studies in animal-models, Orthod Craniofac Res (doi:10.1111/ocr.12243). (4) Glucocorticoids suppress bone formation via the osteoclast, J Clin Invest (jci.org/articles/view/28084).
Q7. 가속이 클수록 재발도 크다는데, 많이 움직였으니 많이 되돌아가는 건 당연한 것 아닌가? 이동량 대비 비율로 보면 어떤가?
→ 맞는 지적입니다. 논문의 재발량은 mm 절대값이라 이동량이 큰 군일수록 커지기 쉽습니다. 논문 표 II(이동량)와 표 VII(재발량) 수치로 이동량 대비 재발 비율을 계산해 보면 대조군 약 106%, 코르티코스테로이드 약 82%, 비타민D 약 80%, PGE2 약 34%입니다. 즉 비율로는 코르티코스테로이드가 대조군보다 나쁘지 않고 PGE2만 뚜렷하게 낮아서, '트레이드오프'는 절대량 기준의 요약이고 비율 기준으로는 'PGE2가 얻은 이동을 가장 잘 유지했다'가 더 정확합니다. 이 비율은 논문이 직접 제시한 값이 아니라 표 수치로 계산한 것이라고 밝히고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Pretendard" pitchFamily="34" charset="0"/>
                <a:ea typeface="Pretendard" pitchFamily="34" charset="-122"/>
                <a:cs typeface="Pretendard" pitchFamily="34" charset="-120"/>
              </a:rPr>
              <a:t>2026-2 〈치과약리학실험2〉</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Pretendard" pitchFamily="34" charset="0"/>
                <a:ea typeface="Pretendard" pitchFamily="34" charset="-122"/>
                <a:cs typeface="Pretendard" pitchFamily="34" charset="-120"/>
              </a:rPr>
              <a:t>Three Pharmacological Agents for Acceleratory</a:t>
            </a:r>
            <a:endParaRPr lang="en-US" sz="2700" dirty="0"/>
          </a:p>
          <a:p>
            <a:pPr indent="0" marL="0">
              <a:lnSpc>
                <a:spcPct val="125000"/>
              </a:lnSpc>
              <a:buNone/>
            </a:pPr>
            <a:r>
              <a:rPr lang="en-US" sz="2700" b="1" dirty="0">
                <a:solidFill>
                  <a:srgbClr val="FFFFFF"/>
                </a:solidFill>
                <a:latin typeface="Pretendard" pitchFamily="34" charset="0"/>
                <a:ea typeface="Pretendard" pitchFamily="34" charset="-122"/>
                <a:cs typeface="Pretendard"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Pretendard" pitchFamily="34" charset="0"/>
                <a:ea typeface="Pretendard" pitchFamily="34" charset="-122"/>
                <a:cs typeface="Pretendard"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Pretendard" pitchFamily="34" charset="0"/>
                <a:ea typeface="Pretendard" pitchFamily="34" charset="-122"/>
                <a:cs typeface="Pretendard" pitchFamily="34" charset="-120"/>
              </a:rPr>
              <a:t>저널  </a:t>
            </a:r>
            <a:pPr indent="0" marL="0">
              <a:lnSpc>
                <a:spcPct val="150000"/>
              </a:lnSpc>
              <a:buNone/>
            </a:pPr>
            <a:r>
              <a:rPr lang="en-US" sz="1400" dirty="0">
                <a:solidFill>
                  <a:srgbClr val="FFFFFF"/>
                </a:solidFill>
                <a:latin typeface="Pretendard" pitchFamily="34" charset="0"/>
                <a:ea typeface="Pretendard" pitchFamily="34" charset="-122"/>
                <a:cs typeface="Pretendard" pitchFamily="34" charset="-120"/>
              </a:rPr>
              <a:t>International Orthodontics, 2026;24:101112 (Elsevier)
</a:t>
            </a:r>
            <a:pPr indent="0" marL="0">
              <a:lnSpc>
                <a:spcPct val="150000"/>
              </a:lnSpc>
              <a:buNone/>
            </a:pPr>
            <a:r>
              <a:rPr lang="en-US" sz="1400" b="1" dirty="0">
                <a:solidFill>
                  <a:srgbClr val="D97706"/>
                </a:solidFill>
                <a:latin typeface="Pretendard" pitchFamily="34" charset="0"/>
                <a:ea typeface="Pretendard" pitchFamily="34" charset="-122"/>
                <a:cs typeface="Pretendard" pitchFamily="34" charset="-120"/>
              </a:rPr>
              <a:t>저자  </a:t>
            </a:r>
            <a:pPr indent="0" marL="0">
              <a:lnSpc>
                <a:spcPct val="150000"/>
              </a:lnSpc>
              <a:buNone/>
            </a:pPr>
            <a:r>
              <a:rPr lang="en-US" sz="1400" dirty="0">
                <a:solidFill>
                  <a:srgbClr val="FFFFFF"/>
                </a:solidFill>
                <a:latin typeface="Pretendard" pitchFamily="34" charset="0"/>
                <a:ea typeface="Pretendard" pitchFamily="34" charset="-122"/>
                <a:cs typeface="Pretendard" pitchFamily="34" charset="-120"/>
              </a:rPr>
              <a:t>Hamed SA, et al. (Mansoura University, Egypt)
</a:t>
            </a:r>
            <a:pPr indent="0" marL="0">
              <a:lnSpc>
                <a:spcPct val="150000"/>
              </a:lnSpc>
              <a:buNone/>
            </a:pPr>
            <a:r>
              <a:rPr lang="en-US" sz="1400" b="1" dirty="0">
                <a:solidFill>
                  <a:srgbClr val="D97706"/>
                </a:solidFill>
                <a:latin typeface="Pretendard" pitchFamily="34" charset="0"/>
                <a:ea typeface="Pretendard" pitchFamily="34" charset="-122"/>
                <a:cs typeface="Pretendard" pitchFamily="34" charset="-120"/>
              </a:rPr>
              <a:t>발표자  </a:t>
            </a:r>
            <a:pPr indent="0" marL="0">
              <a:lnSpc>
                <a:spcPct val="150000"/>
              </a:lnSpc>
              <a:buNone/>
            </a:pPr>
            <a:r>
              <a:rPr lang="en-US" sz="1400" dirty="0">
                <a:solidFill>
                  <a:srgbClr val="FFFFFF"/>
                </a:solidFill>
                <a:latin typeface="Pretendard" pitchFamily="34" charset="0"/>
                <a:ea typeface="Pretendard" pitchFamily="34" charset="-122"/>
                <a:cs typeface="Pretendard"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7" name="Text 5"/>
          <p:cNvSpPr txBox="1"/>
          <p:nvPr/>
        </p:nvSpPr>
        <p:spPr>
          <a:xfrm>
            <a:off x="1783080" y="214884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Pretendard" pitchFamily="34" charset="0"/>
                <a:ea typeface="Pretendard" pitchFamily="34" charset="-122"/>
                <a:cs typeface="Pretendard"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Pretendard" pitchFamily="34" charset="0"/>
                <a:ea typeface="Pretendard" pitchFamily="34" charset="-122"/>
                <a:cs typeface="Pretendard"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2" name="Text 10"/>
          <p:cNvSpPr txBox="1"/>
          <p:nvPr/>
        </p:nvSpPr>
        <p:spPr>
          <a:xfrm>
            <a:off x="1783080" y="368503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Pretendard" pitchFamily="34" charset="0"/>
                <a:ea typeface="Pretendard" pitchFamily="34" charset="-122"/>
                <a:cs typeface="Pretendard"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Pretendard" pitchFamily="34" charset="0"/>
                <a:ea typeface="Pretendard" pitchFamily="34" charset="-122"/>
                <a:cs typeface="Pretendard"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7" name="Text 15"/>
          <p:cNvSpPr txBox="1"/>
          <p:nvPr/>
        </p:nvSpPr>
        <p:spPr>
          <a:xfrm>
            <a:off x="1783080" y="522122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Pretendard" pitchFamily="34" charset="0"/>
                <a:ea typeface="Pretendard" pitchFamily="34" charset="-122"/>
                <a:cs typeface="Pretendard"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Pretendard" pitchFamily="34" charset="0"/>
                <a:ea typeface="Pretendard" pitchFamily="34" charset="-122"/>
                <a:cs typeface="Pretendard"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29184"/>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MECHANISM</a:t>
            </a:r>
            <a:endParaRPr lang="en-US" sz="1200" dirty="0"/>
          </a:p>
        </p:txBody>
      </p:sp>
      <p:sp>
        <p:nvSpPr>
          <p:cNvPr id="3" name="Text 1"/>
          <p:cNvSpPr txBox="1"/>
          <p:nvPr/>
        </p:nvSpPr>
        <p:spPr>
          <a:xfrm>
            <a:off x="649224"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세포질 수용체와 결합→이량체화→핵 이동,</a:t>
            </a:r>
            <a:endParaRPr lang="en-US" sz="1250" dirty="0"/>
          </a:p>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COX-2 등 염증유전자 전사 억제 + 파골세포형성 직접 자극 + collagenase 활성 증가 (조골세포↓·파골세포↑)</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Pretendard" pitchFamily="34" charset="0"/>
                <a:ea typeface="Pretendard" pitchFamily="34" charset="-122"/>
                <a:cs typeface="Pretendard"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비타민D수용체(VDR)와 결합</a:t>
            </a:r>
            <a:endParaRPr lang="en-US" sz="1250" dirty="0"/>
          </a:p>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 표적 유전자 발현 조절로 파골세포 활성 자체를 증가시키고 면역 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Pretendard" pitchFamily="34" charset="0"/>
                <a:ea typeface="Pretendard" pitchFamily="34" charset="-122"/>
                <a:cs typeface="Pretendard" pitchFamily="34" charset="-120"/>
              </a:rPr>
              <a:t>→ 골개조 촉진</a:t>
            </a:r>
            <a:endParaRPr lang="en-US" sz="1200" dirty="0"/>
          </a:p>
          <a:p>
            <a:pPr indent="0" marL="0">
              <a:lnSpc>
                <a:spcPct val="130000"/>
              </a:lnSpc>
              <a:buNone/>
            </a:pPr>
            <a:r>
              <a:rPr lang="en-US" sz="1200" b="1" i="1" dirty="0">
                <a:solidFill>
                  <a:srgbClr val="3D7EA6"/>
                </a:solidFill>
                <a:latin typeface="Pretendard" pitchFamily="34" charset="0"/>
                <a:ea typeface="Pretendard" pitchFamily="34" charset="-122"/>
                <a:cs typeface="Pretendard" pitchFamily="34" charset="-120"/>
              </a:rPr>
              <a:t>+ osteocalcin·비타민D수용체 유전자 발현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000" dirty="0">
                <a:solidFill>
                  <a:srgbClr val="16232E"/>
                </a:solidFill>
                <a:latin typeface="Pretendard" pitchFamily="34" charset="0"/>
                <a:ea typeface="Pretendard" pitchFamily="34" charset="-122"/>
                <a:cs typeface="Pretendard" pitchFamily="34" charset="-120"/>
              </a:rPr>
              <a:t>(아라키돈산이 유도형 COX-2를 거쳐 PGE₂로 전환)</a:t>
            </a:r>
            <a:endParaRPr lang="en-US" sz="1250" dirty="0"/>
          </a:p>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 EP 수용체 통해 RANKL 발현 유도,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Pretendard" pitchFamily="34" charset="0"/>
                <a:ea typeface="Pretendard" pitchFamily="34" charset="-122"/>
                <a:cs typeface="Pretendard"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Pretendard" pitchFamily="34" charset="0"/>
                <a:ea typeface="Pretendard" pitchFamily="34" charset="-122"/>
                <a:cs typeface="Pretendard"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Pretendard" pitchFamily="34" charset="0"/>
                <a:ea typeface="Pretendard" pitchFamily="34" charset="-122"/>
                <a:cs typeface="Pretendard"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Pretendard" pitchFamily="34" charset="0"/>
                <a:ea typeface="Pretendard" pitchFamily="34" charset="-122"/>
                <a:cs typeface="Pretendard"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Pretendard" pitchFamily="34" charset="0"/>
                <a:ea typeface="Pretendard" pitchFamily="34" charset="-122"/>
                <a:cs typeface="Pretendard"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Pretendard" pitchFamily="34" charset="0"/>
                <a:ea typeface="Pretendard" pitchFamily="34" charset="-122"/>
                <a:cs typeface="Pretendard"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Pretendard" pitchFamily="34" charset="0"/>
                <a:ea typeface="Pretendard" pitchFamily="34" charset="-122"/>
                <a:cs typeface="Pretendard"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Pretendard" pitchFamily="34" charset="0"/>
                <a:ea typeface="Pretendard" pitchFamily="34" charset="-122"/>
                <a:cs typeface="Pretendard"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Pretendard" pitchFamily="34" charset="0"/>
                <a:ea typeface="Pretendard" pitchFamily="34" charset="-122"/>
                <a:cs typeface="Pretendard"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Pretendard" pitchFamily="34" charset="0"/>
                <a:ea typeface="Pretendard" pitchFamily="34" charset="-122"/>
                <a:cs typeface="Pretendard"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무작위배정, 눈가림(2번째 저자가 배정)— 최종 배정 후엔 주 연구자 1인이 개입·측정·평가 전부 수행</a:t>
            </a:r>
            <a:endParaRPr lang="en-US" sz="1200" dirty="0"/>
          </a:p>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측정: 디지털 캘리퍼(0.01mm)로 절치 간 거리</a:t>
            </a:r>
            <a:endParaRPr lang="en-US" sz="1200" dirty="0"/>
          </a:p>
        </p:txBody>
      </p:sp>
      <p:sp>
        <p:nvSpPr>
          <p:cNvPr id="7" name="Shape 5"/>
          <p:cNvSpPr/>
          <p:nvPr/>
        </p:nvSpPr>
        <p:spPr>
          <a:xfrm>
            <a:off x="960120" y="4014216"/>
            <a:ext cx="347472" cy="301752"/>
          </a:xfrm>
          <a:prstGeom prst="roundRect">
            <a:avLst>
              <a:gd name="adj" fmla="val 18182"/>
            </a:avLst>
          </a:prstGeom>
          <a:solidFill>
            <a:srgbClr val="9AA5B1"/>
          </a:solidFill>
          <a:ln/>
        </p:spPr>
      </p:sp>
      <p:sp>
        <p:nvSpPr>
          <p:cNvPr id="8" name="Text 6"/>
          <p:cNvSpPr txBox="1"/>
          <p:nvPr/>
        </p:nvSpPr>
        <p:spPr>
          <a:xfrm>
            <a:off x="960120" y="401421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a:t>
            </a:r>
            <a:endParaRPr lang="en-US" sz="1100" dirty="0"/>
          </a:p>
        </p:txBody>
      </p:sp>
      <p:sp>
        <p:nvSpPr>
          <p:cNvPr id="9" name="Text 7"/>
          <p:cNvSpPr txBox="1"/>
          <p:nvPr/>
        </p:nvSpPr>
        <p:spPr>
          <a:xfrm>
            <a:off x="1426464" y="398678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음성대조</a:t>
            </a:r>
            <a:endParaRPr lang="en-US" sz="1100" dirty="0"/>
          </a:p>
        </p:txBody>
      </p:sp>
      <p:sp>
        <p:nvSpPr>
          <p:cNvPr id="10" name="Text 8"/>
          <p:cNvSpPr txBox="1"/>
          <p:nvPr/>
        </p:nvSpPr>
        <p:spPr>
          <a:xfrm>
            <a:off x="3749040" y="398678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무처치, OTM 없음</a:t>
            </a:r>
            <a:endParaRPr lang="en-US" sz="1050" dirty="0"/>
          </a:p>
        </p:txBody>
      </p:sp>
      <p:sp>
        <p:nvSpPr>
          <p:cNvPr id="11" name="Shape 9"/>
          <p:cNvSpPr/>
          <p:nvPr/>
        </p:nvSpPr>
        <p:spPr>
          <a:xfrm>
            <a:off x="960120" y="4370832"/>
            <a:ext cx="347472" cy="301752"/>
          </a:xfrm>
          <a:prstGeom prst="roundRect">
            <a:avLst>
              <a:gd name="adj" fmla="val 18182"/>
            </a:avLst>
          </a:prstGeom>
          <a:solidFill>
            <a:srgbClr val="9AA5B1"/>
          </a:solidFill>
          <a:ln/>
        </p:spPr>
      </p:sp>
      <p:sp>
        <p:nvSpPr>
          <p:cNvPr id="12" name="Text 10"/>
          <p:cNvSpPr txBox="1"/>
          <p:nvPr/>
        </p:nvSpPr>
        <p:spPr>
          <a:xfrm>
            <a:off x="960120" y="437083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II</a:t>
            </a:r>
            <a:endParaRPr lang="en-US" sz="1100" dirty="0"/>
          </a:p>
        </p:txBody>
      </p:sp>
      <p:sp>
        <p:nvSpPr>
          <p:cNvPr id="13" name="Text 11"/>
          <p:cNvSpPr txBox="1"/>
          <p:nvPr/>
        </p:nvSpPr>
        <p:spPr>
          <a:xfrm>
            <a:off x="1426464" y="434340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양성대조(CPG)</a:t>
            </a:r>
            <a:endParaRPr lang="en-US" sz="1100" dirty="0"/>
          </a:p>
        </p:txBody>
      </p:sp>
      <p:sp>
        <p:nvSpPr>
          <p:cNvPr id="14" name="Text 12"/>
          <p:cNvSpPr txBox="1"/>
          <p:nvPr/>
        </p:nvSpPr>
        <p:spPr>
          <a:xfrm>
            <a:off x="3749040" y="434340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OTM만, 약물 없음</a:t>
            </a:r>
            <a:endParaRPr lang="en-US" sz="1050" dirty="0"/>
          </a:p>
        </p:txBody>
      </p:sp>
      <p:sp>
        <p:nvSpPr>
          <p:cNvPr id="15" name="Shape 13"/>
          <p:cNvSpPr/>
          <p:nvPr/>
        </p:nvSpPr>
        <p:spPr>
          <a:xfrm>
            <a:off x="960120" y="4727448"/>
            <a:ext cx="347472" cy="301752"/>
          </a:xfrm>
          <a:prstGeom prst="roundRect">
            <a:avLst>
              <a:gd name="adj" fmla="val 18182"/>
            </a:avLst>
          </a:prstGeom>
          <a:solidFill>
            <a:srgbClr val="D97706"/>
          </a:solidFill>
          <a:ln/>
        </p:spPr>
      </p:sp>
      <p:sp>
        <p:nvSpPr>
          <p:cNvPr id="16" name="Text 14"/>
          <p:cNvSpPr txBox="1"/>
          <p:nvPr/>
        </p:nvSpPr>
        <p:spPr>
          <a:xfrm>
            <a:off x="960120" y="472744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III</a:t>
            </a:r>
            <a:endParaRPr lang="en-US" sz="1100" dirty="0"/>
          </a:p>
        </p:txBody>
      </p:sp>
      <p:sp>
        <p:nvSpPr>
          <p:cNvPr id="17" name="Text 15"/>
          <p:cNvSpPr txBox="1"/>
          <p:nvPr/>
        </p:nvSpPr>
        <p:spPr>
          <a:xfrm>
            <a:off x="1426464" y="470001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코르티코스테로이드(COG)</a:t>
            </a:r>
            <a:endParaRPr lang="en-US" sz="1100" dirty="0"/>
          </a:p>
        </p:txBody>
      </p:sp>
      <p:sp>
        <p:nvSpPr>
          <p:cNvPr id="18" name="Text 16"/>
          <p:cNvSpPr txBox="1"/>
          <p:nvPr/>
        </p:nvSpPr>
        <p:spPr>
          <a:xfrm>
            <a:off x="3749040" y="470001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50µL 8mg/kg, 매일 주입</a:t>
            </a:r>
            <a:endParaRPr lang="en-US" sz="1050" dirty="0"/>
          </a:p>
        </p:txBody>
      </p:sp>
      <p:sp>
        <p:nvSpPr>
          <p:cNvPr id="19" name="Shape 17"/>
          <p:cNvSpPr/>
          <p:nvPr/>
        </p:nvSpPr>
        <p:spPr>
          <a:xfrm>
            <a:off x="960120" y="5084064"/>
            <a:ext cx="347472" cy="301752"/>
          </a:xfrm>
          <a:prstGeom prst="roundRect">
            <a:avLst>
              <a:gd name="adj" fmla="val 18182"/>
            </a:avLst>
          </a:prstGeom>
          <a:solidFill>
            <a:srgbClr val="3D7EA6"/>
          </a:solidFill>
          <a:ln/>
        </p:spPr>
      </p:sp>
      <p:sp>
        <p:nvSpPr>
          <p:cNvPr id="20" name="Text 18"/>
          <p:cNvSpPr txBox="1"/>
          <p:nvPr/>
        </p:nvSpPr>
        <p:spPr>
          <a:xfrm>
            <a:off x="960120" y="508406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IV</a:t>
            </a:r>
            <a:endParaRPr lang="en-US" sz="1100" dirty="0"/>
          </a:p>
        </p:txBody>
      </p:sp>
      <p:sp>
        <p:nvSpPr>
          <p:cNvPr id="21" name="Text 19"/>
          <p:cNvSpPr txBox="1"/>
          <p:nvPr/>
        </p:nvSpPr>
        <p:spPr>
          <a:xfrm>
            <a:off x="1426464" y="505663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비타민D(VDG)</a:t>
            </a:r>
            <a:endParaRPr lang="en-US" sz="1100" dirty="0"/>
          </a:p>
        </p:txBody>
      </p:sp>
      <p:sp>
        <p:nvSpPr>
          <p:cNvPr id="22" name="Text 20"/>
          <p:cNvSpPr txBox="1"/>
          <p:nvPr/>
        </p:nvSpPr>
        <p:spPr>
          <a:xfrm>
            <a:off x="3749040" y="505663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20µL 10⁻¹⁰mol/L, 3일마다 주입</a:t>
            </a:r>
            <a:endParaRPr lang="en-US" sz="1050" dirty="0"/>
          </a:p>
        </p:txBody>
      </p:sp>
      <p:sp>
        <p:nvSpPr>
          <p:cNvPr id="23" name="Shape 21"/>
          <p:cNvSpPr/>
          <p:nvPr/>
        </p:nvSpPr>
        <p:spPr>
          <a:xfrm>
            <a:off x="960120" y="5440680"/>
            <a:ext cx="347472" cy="301752"/>
          </a:xfrm>
          <a:prstGeom prst="roundRect">
            <a:avLst>
              <a:gd name="adj" fmla="val 18182"/>
            </a:avLst>
          </a:prstGeom>
          <a:solidFill>
            <a:srgbClr val="2F855A"/>
          </a:solidFill>
          <a:ln/>
        </p:spPr>
      </p:sp>
      <p:sp>
        <p:nvSpPr>
          <p:cNvPr id="24" name="Text 22"/>
          <p:cNvSpPr txBox="1"/>
          <p:nvPr/>
        </p:nvSpPr>
        <p:spPr>
          <a:xfrm>
            <a:off x="960120" y="544068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V</a:t>
            </a:r>
            <a:endParaRPr lang="en-US" sz="1100" dirty="0"/>
          </a:p>
        </p:txBody>
      </p:sp>
      <p:sp>
        <p:nvSpPr>
          <p:cNvPr id="25" name="Text 23"/>
          <p:cNvSpPr txBox="1"/>
          <p:nvPr/>
        </p:nvSpPr>
        <p:spPr>
          <a:xfrm>
            <a:off x="1426464" y="541324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PGE₂(PGE₂G)</a:t>
            </a:r>
            <a:endParaRPr lang="en-US" sz="1100" dirty="0"/>
          </a:p>
        </p:txBody>
      </p:sp>
      <p:sp>
        <p:nvSpPr>
          <p:cNvPr id="26" name="Text 24"/>
          <p:cNvSpPr txBox="1"/>
          <p:nvPr/>
        </p:nvSpPr>
        <p:spPr>
          <a:xfrm>
            <a:off x="3749040" y="541324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0.1µg/0.1mL, 매주 주입</a:t>
            </a:r>
            <a:endParaRPr lang="en-US" sz="1050" dirty="0"/>
          </a:p>
        </p:txBody>
      </p:sp>
      <p:pic>
        <p:nvPicPr>
          <p:cNvPr id="27" name="Image 0" descr="/home/user/-/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Pretendard" pitchFamily="34" charset="0"/>
                <a:ea typeface="Pretendard" pitchFamily="34" charset="-122"/>
                <a:cs typeface="Pretendard"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STATISTICS 101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이 논문은 어떻게 통계로 검증했나</a:t>
            </a:r>
            <a:endParaRPr lang="en-US" sz="2400" dirty="0"/>
          </a:p>
        </p:txBody>
      </p:sp>
      <p:sp>
        <p:nvSpPr>
          <p:cNvPr id="4" name="Shape 2"/>
          <p:cNvSpPr/>
          <p:nvPr/>
        </p:nvSpPr>
        <p:spPr>
          <a:xfrm>
            <a:off x="64008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22960" y="1783080"/>
            <a:ext cx="2286000" cy="777240"/>
          </a:xfrm>
          <a:prstGeom prst="roundRect">
            <a:avLst>
              <a:gd name="adj" fmla="val 9412"/>
            </a:avLst>
          </a:prstGeom>
          <a:solidFill>
            <a:srgbClr val="3D7EA6"/>
          </a:solidFill>
          <a:ln/>
        </p:spPr>
      </p:sp>
      <p:sp>
        <p:nvSpPr>
          <p:cNvPr id="6" name="Text 4"/>
          <p:cNvSpPr txBox="1"/>
          <p:nvPr/>
        </p:nvSpPr>
        <p:spPr>
          <a:xfrm>
            <a:off x="84124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Shapiro–Wilk 검정</a:t>
            </a:r>
            <a:endParaRPr lang="en-US" sz="1250" dirty="0"/>
          </a:p>
        </p:txBody>
      </p:sp>
      <p:sp>
        <p:nvSpPr>
          <p:cNvPr id="7" name="Text 5"/>
          <p:cNvSpPr txBox="1"/>
          <p:nvPr/>
        </p:nvSpPr>
        <p:spPr>
          <a:xfrm>
            <a:off x="84124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정규성 검정</a:t>
            </a:r>
            <a:endParaRPr lang="en-US" sz="1000" dirty="0"/>
          </a:p>
        </p:txBody>
      </p:sp>
      <p:sp>
        <p:nvSpPr>
          <p:cNvPr id="8" name="Text 6"/>
          <p:cNvSpPr txBox="1"/>
          <p:nvPr/>
        </p:nvSpPr>
        <p:spPr>
          <a:xfrm>
            <a:off x="82296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데이터의 정규 분포성 확인</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ANOVA 등 모수적 검정 가능</a:t>
            </a:r>
            <a:endParaRPr lang="en-US" sz="1050" dirty="0"/>
          </a:p>
        </p:txBody>
      </p:sp>
      <p:sp>
        <p:nvSpPr>
          <p:cNvPr id="9" name="Shape 7"/>
          <p:cNvSpPr/>
          <p:nvPr/>
        </p:nvSpPr>
        <p:spPr>
          <a:xfrm>
            <a:off x="342900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3611880" y="1783080"/>
            <a:ext cx="2286000" cy="777240"/>
          </a:xfrm>
          <a:prstGeom prst="roundRect">
            <a:avLst>
              <a:gd name="adj" fmla="val 9412"/>
            </a:avLst>
          </a:prstGeom>
          <a:solidFill>
            <a:srgbClr val="1B4965"/>
          </a:solidFill>
          <a:ln/>
        </p:spPr>
      </p:sp>
      <p:sp>
        <p:nvSpPr>
          <p:cNvPr id="11" name="Text 9"/>
          <p:cNvSpPr txBox="1"/>
          <p:nvPr/>
        </p:nvSpPr>
        <p:spPr>
          <a:xfrm>
            <a:off x="363016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One-way ANOVA</a:t>
            </a:r>
            <a:endParaRPr lang="en-US" sz="1250" dirty="0"/>
          </a:p>
        </p:txBody>
      </p:sp>
      <p:sp>
        <p:nvSpPr>
          <p:cNvPr id="12" name="Text 10"/>
          <p:cNvSpPr txBox="1"/>
          <p:nvPr/>
        </p:nvSpPr>
        <p:spPr>
          <a:xfrm>
            <a:off x="363016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일원분산분석</a:t>
            </a:r>
            <a:endParaRPr lang="en-US" sz="1000" dirty="0"/>
          </a:p>
        </p:txBody>
      </p:sp>
      <p:sp>
        <p:nvSpPr>
          <p:cNvPr id="13" name="Text 11"/>
          <p:cNvSpPr txBox="1"/>
          <p:nvPr/>
        </p:nvSpPr>
        <p:spPr>
          <a:xfrm>
            <a:off x="361188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3개 이상 군의 평균을 한 번에 비교</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"군 사이에 적어도 하나는 다르다"까지만 알려줌, 어느 군끼리 다른지는 모름</a:t>
            </a:r>
            <a:endParaRPr lang="en-US" sz="1050" dirty="0"/>
          </a:p>
        </p:txBody>
      </p:sp>
      <p:sp>
        <p:nvSpPr>
          <p:cNvPr id="14" name="Shape 12"/>
          <p:cNvSpPr/>
          <p:nvPr/>
        </p:nvSpPr>
        <p:spPr>
          <a:xfrm>
            <a:off x="621792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6400800" y="1783080"/>
            <a:ext cx="2286000" cy="777240"/>
          </a:xfrm>
          <a:prstGeom prst="roundRect">
            <a:avLst>
              <a:gd name="adj" fmla="val 9412"/>
            </a:avLst>
          </a:prstGeom>
          <a:solidFill>
            <a:srgbClr val="D97706"/>
          </a:solidFill>
          <a:ln/>
        </p:spPr>
      </p:sp>
      <p:sp>
        <p:nvSpPr>
          <p:cNvPr id="16" name="Text 14"/>
          <p:cNvSpPr txBox="1"/>
          <p:nvPr/>
        </p:nvSpPr>
        <p:spPr>
          <a:xfrm>
            <a:off x="641908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Tukey post-hoc</a:t>
            </a:r>
            <a:endParaRPr lang="en-US" sz="1250" dirty="0"/>
          </a:p>
        </p:txBody>
      </p:sp>
      <p:sp>
        <p:nvSpPr>
          <p:cNvPr id="17" name="Text 15"/>
          <p:cNvSpPr txBox="1"/>
          <p:nvPr/>
        </p:nvSpPr>
        <p:spPr>
          <a:xfrm>
            <a:off x="641908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사후검정</a:t>
            </a:r>
            <a:endParaRPr lang="en-US" sz="1000" dirty="0"/>
          </a:p>
        </p:txBody>
      </p:sp>
      <p:sp>
        <p:nvSpPr>
          <p:cNvPr id="18" name="Text 16"/>
          <p:cNvSpPr txBox="1"/>
          <p:nvPr/>
        </p:nvSpPr>
        <p:spPr>
          <a:xfrm>
            <a:off x="640080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ANOVA가 유의하면 모든 군을 쌍(pair)으로 나눠 비교</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정확히 어느 군과 어느 군이 다른지 확정 — 이 논문의 '군간 비교' 표가 전부 이 결과</a:t>
            </a:r>
            <a:endParaRPr lang="en-US" sz="1050" dirty="0"/>
          </a:p>
        </p:txBody>
      </p:sp>
      <p:sp>
        <p:nvSpPr>
          <p:cNvPr id="19" name="Shape 17"/>
          <p:cNvSpPr/>
          <p:nvPr/>
        </p:nvSpPr>
        <p:spPr>
          <a:xfrm>
            <a:off x="900684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20" name="Shape 18"/>
          <p:cNvSpPr/>
          <p:nvPr/>
        </p:nvSpPr>
        <p:spPr>
          <a:xfrm>
            <a:off x="9189720" y="1783080"/>
            <a:ext cx="2286000" cy="777240"/>
          </a:xfrm>
          <a:prstGeom prst="roundRect">
            <a:avLst>
              <a:gd name="adj" fmla="val 9412"/>
            </a:avLst>
          </a:prstGeom>
          <a:solidFill>
            <a:srgbClr val="3D7EA6"/>
          </a:solidFill>
          <a:ln/>
        </p:spPr>
      </p:sp>
      <p:sp>
        <p:nvSpPr>
          <p:cNvPr id="21" name="Text 19"/>
          <p:cNvSpPr txBox="1"/>
          <p:nvPr/>
        </p:nvSpPr>
        <p:spPr>
          <a:xfrm>
            <a:off x="920800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Paired t-test</a:t>
            </a:r>
            <a:endParaRPr lang="en-US" sz="1250" dirty="0"/>
          </a:p>
        </p:txBody>
      </p:sp>
      <p:sp>
        <p:nvSpPr>
          <p:cNvPr id="22" name="Text 20"/>
          <p:cNvSpPr txBox="1"/>
          <p:nvPr/>
        </p:nvSpPr>
        <p:spPr>
          <a:xfrm>
            <a:off x="920800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대응표본 t-검정</a:t>
            </a:r>
            <a:endParaRPr lang="en-US" sz="1000" dirty="0"/>
          </a:p>
        </p:txBody>
      </p:sp>
      <p:sp>
        <p:nvSpPr>
          <p:cNvPr id="23" name="Text 21"/>
          <p:cNvSpPr txBox="1"/>
          <p:nvPr/>
        </p:nvSpPr>
        <p:spPr>
          <a:xfrm>
            <a:off x="918972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같은 개체를 두 시점에서 비교</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예: 같은 랫드의 '가속기 직후' vs '보정 1주 후' 위치 비교(군 내 비교)</a:t>
            </a:r>
            <a:endParaRPr lang="en-US" sz="1050" dirty="0"/>
          </a:p>
        </p:txBody>
      </p:sp>
      <p:sp>
        <p:nvSpPr>
          <p:cNvPr id="24" name="Shape 22"/>
          <p:cNvSpPr/>
          <p:nvPr/>
        </p:nvSpPr>
        <p:spPr>
          <a:xfrm>
            <a:off x="640080" y="5074920"/>
            <a:ext cx="10908792" cy="1143000"/>
          </a:xfrm>
          <a:prstGeom prst="roundRect">
            <a:avLst>
              <a:gd name="adj" fmla="val 8000"/>
            </a:avLst>
          </a:prstGeom>
          <a:solidFill>
            <a:srgbClr val="EAF2F7"/>
          </a:solidFill>
          <a:ln/>
          <a:effectLst>
            <a:outerShdw sx="100000" sy="100000" kx="0" ky="0" algn="bl" rotWithShape="0" blurRad="76200" dist="25400" dir="5400000">
              <a:srgbClr val="16232E">
                <a:alpha val="10000"/>
              </a:srgbClr>
            </a:outerShdw>
          </a:effectLst>
        </p:spPr>
      </p:sp>
      <p:sp>
        <p:nvSpPr>
          <p:cNvPr id="25" name="Text 23"/>
          <p:cNvSpPr txBox="1"/>
          <p:nvPr/>
        </p:nvSpPr>
        <p:spPr>
          <a:xfrm>
            <a:off x="914400" y="5230368"/>
            <a:ext cx="10360152" cy="914400"/>
          </a:xfrm>
          <a:prstGeom prst="rect">
            <a:avLst/>
          </a:prstGeom>
          <a:noFill/>
          <a:ln/>
        </p:spPr>
        <p:txBody>
          <a:bodyPr wrap="square" lIns="0" tIns="0" rIns="0" bIns="0" rtlCol="0" anchor="ctr"/>
          <a:lstStyle/>
          <a:p>
            <a:pPr indent="0" marL="0">
              <a:lnSpc>
                <a:spcPct val="130000"/>
              </a:lnSpc>
              <a:buNone/>
            </a:pPr>
            <a:r>
              <a:rPr lang="en-US" sz="1100" b="1" dirty="0">
                <a:solidFill>
                  <a:srgbClr val="1B4965"/>
                </a:solidFill>
                <a:latin typeface="Pretendard" pitchFamily="34" charset="0"/>
                <a:ea typeface="Pretendard" pitchFamily="34" charset="-122"/>
                <a:cs typeface="Pretendard" pitchFamily="34" charset="-120"/>
              </a:rPr>
              <a:t>이 논문의 분석 흐름  </a:t>
            </a:r>
            <a:pPr indent="0" marL="0">
              <a:lnSpc>
                <a:spcPct val="130000"/>
              </a:lnSpc>
              <a:buNone/>
            </a:pPr>
            <a:r>
              <a:rPr lang="en-US" sz="1100" dirty="0">
                <a:solidFill>
                  <a:srgbClr val="16232E"/>
                </a:solidFill>
                <a:latin typeface="Pretendard" pitchFamily="34" charset="0"/>
                <a:ea typeface="Pretendard" pitchFamily="34" charset="-122"/>
                <a:cs typeface="Pretendard" pitchFamily="34" charset="-120"/>
              </a:rPr>
              <a:t>Shapiro–Wilk ▷ One-way ANOVA ▷ 유의하면 Tukey post-hoc — 군내 시점별 비교(가속 후 vs 보정 후 등)는 paired t-test로 별도 진행
</a:t>
            </a:r>
            <a:pPr indent="0" marL="0">
              <a:lnSpc>
                <a:spcPct val="130000"/>
              </a:lnSpc>
              <a:buNone/>
            </a:pPr>
            <a:r>
              <a:rPr lang="en-US" sz="1100" b="1" dirty="0">
                <a:solidFill>
                  <a:srgbClr val="1B4965"/>
                </a:solidFill>
                <a:latin typeface="Pretendard" pitchFamily="34" charset="0"/>
                <a:ea typeface="Pretendard" pitchFamily="34" charset="-122"/>
                <a:cs typeface="Pretendard" pitchFamily="34" charset="-120"/>
              </a:rPr>
              <a:t>p &lt; 0.05의 의미  </a:t>
            </a:r>
            <a:pPr indent="0" marL="0">
              <a:lnSpc>
                <a:spcPct val="130000"/>
              </a:lnSpc>
              <a:buNone/>
            </a:pPr>
            <a:r>
              <a:rPr lang="en-US" sz="1100" dirty="0">
                <a:solidFill>
                  <a:srgbClr val="16232E"/>
                </a:solidFill>
                <a:latin typeface="Pretendard" pitchFamily="34" charset="0"/>
                <a:ea typeface="Pretendard" pitchFamily="34" charset="-122"/>
                <a:cs typeface="Pretendard" pitchFamily="34" charset="-120"/>
              </a:rPr>
              <a:t>이 차이가 우연히 생겼을 확률이 5% 미만이라는 뜻 — 관행적 기준; 이 논문 대부분의 비교는 p &lt; 0.001로, 우연일 확률이 매우 낮다.</a:t>
            </a:r>
            <a:endParaRPr lang="en-US" sz="1100" dirty="0"/>
          </a:p>
        </p:txBody>
      </p:sp>
      <p:sp>
        <p:nvSpPr>
          <p:cNvPr id="26" name="Text 2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Pretendard" pitchFamily="34" charset="0"/>
                <a:ea typeface="Pretendard" pitchFamily="34" charset="-122"/>
                <a:cs typeface="Pretendard"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Pretendard" pitchFamily="34" charset="0"/>
                <a:ea typeface="Pretendard" pitchFamily="34" charset="-122"/>
                <a:cs typeface="Pretendard"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Pretendard" pitchFamily="34" charset="0"/>
                <a:ea typeface="Pretendard" pitchFamily="34" charset="-122"/>
                <a:cs typeface="Pretendard"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dirty="0">
                <a:solidFill>
                  <a:srgbClr val="1B4965"/>
                </a:solidFill>
                <a:latin typeface="Pretendard" pitchFamily="34" charset="0"/>
                <a:ea typeface="Pretendard" pitchFamily="34" charset="-122"/>
                <a:cs typeface="Pretendard" pitchFamily="34" charset="-120"/>
              </a:rPr>
              <a:t>→ 대조군(1.29±0.11mm) 대비 세 약물 모두 유의하게 가속 (p &lt; 0.001)</a:t>
            </a:r>
            <a:endParaRPr lang="en-US" sz="1300" dirty="0"/>
          </a:p>
          <a:p>
            <a:pPr indent="0" marL="0">
              <a:lnSpc>
                <a:spcPct val="130000"/>
              </a:lnSpc>
              <a:buNone/>
            </a:pPr>
            <a:r>
              <a:rPr lang="en-US" sz="1300" dirty="0">
                <a:solidFill>
                  <a:srgbClr val="1B4965"/>
                </a:solidFill>
                <a:latin typeface="Pretendard" pitchFamily="34" charset="0"/>
                <a:ea typeface="Pretendard" pitchFamily="34" charset="-122"/>
                <a:cs typeface="Pretendard" pitchFamily="34" charset="-120"/>
              </a:rPr>
              <a:t>— 가속 순위: 코르티코스테로이드 &gt; 비타민D &gt; PGE₂, 조직검사(ALP·TRAP)도 동일 순서로 확인됨</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2743200"/>
                <a:gridCol w="2103120"/>
                <a:gridCol w="2468880"/>
                <a:gridCol w="2103120"/>
                <a:gridCol w="1490472"/>
              </a:tblGrid>
              <a:tr h="502920">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군</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양성대조(CPG)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코르티코스테로이드(COG)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비타민D(VDG)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PGE₂(PGE₂G)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4주 후 이동량(직후 대비 증가분)</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1.29 ± 0.11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6.50 ± 0.88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3.73 ± 0.14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2.80 ± 0.15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Pretendard" pitchFamily="34" charset="0"/>
                <a:ea typeface="Pretendard" pitchFamily="34" charset="-122"/>
                <a:cs typeface="Pretendard"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Pretendard" pitchFamily="34" charset="0"/>
                <a:ea typeface="Pretendard" pitchFamily="34" charset="-122"/>
                <a:cs typeface="Pretendard" pitchFamily="34" charset="-120"/>
              </a:rPr>
              <a:t>-1.09</a:t>
            </a:r>
            <a:endParaRPr lang="en-US" sz="4000" dirty="0"/>
          </a:p>
          <a:p>
            <a:pPr algn="ctr" indent="0" marL="0">
              <a:buNone/>
            </a:pPr>
            <a:r>
              <a:rPr lang="en-US" sz="2000" b="1" dirty="0">
                <a:solidFill>
                  <a:srgbClr val="9AA5B1"/>
                </a:solidFill>
                <a:latin typeface="Pretendard" pitchFamily="34" charset="0"/>
                <a:ea typeface="Pretendard" pitchFamily="34" charset="-122"/>
                <a:cs typeface="Pretendard" pitchFamily="34" charset="-120"/>
              </a:rPr>
              <a:t>±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Pretendard" pitchFamily="34" charset="0"/>
                <a:ea typeface="Pretendard" pitchFamily="34" charset="-122"/>
                <a:cs typeface="Pretendard" pitchFamily="34" charset="-120"/>
              </a:rPr>
              <a:t>-0.86</a:t>
            </a:r>
            <a:endParaRPr lang="en-US" sz="4000" dirty="0"/>
          </a:p>
          <a:p>
            <a:pPr algn="ctr" indent="0" marL="0">
              <a:buNone/>
            </a:pPr>
            <a:r>
              <a:rPr lang="en-US" sz="2000" b="1" dirty="0">
                <a:solidFill>
                  <a:srgbClr val="2F855A"/>
                </a:solidFill>
                <a:latin typeface="Pretendard" pitchFamily="34" charset="0"/>
                <a:ea typeface="Pretendard" pitchFamily="34" charset="-122"/>
                <a:cs typeface="Pretendard" pitchFamily="34" charset="-120"/>
              </a:rPr>
              <a:t>±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Pretendard" pitchFamily="34" charset="0"/>
                <a:ea typeface="Pretendard" pitchFamily="34" charset="-122"/>
                <a:cs typeface="Pretendard" pitchFamily="34" charset="-120"/>
              </a:rPr>
              <a:t>-2.75</a:t>
            </a:r>
            <a:endParaRPr lang="en-US" sz="4000" dirty="0"/>
          </a:p>
          <a:p>
            <a:pPr algn="ctr" indent="0" marL="0">
              <a:buNone/>
            </a:pPr>
            <a:r>
              <a:rPr lang="en-US" sz="2000" b="1" dirty="0">
                <a:solidFill>
                  <a:srgbClr val="3D7EA6"/>
                </a:solidFill>
                <a:latin typeface="Pretendard" pitchFamily="34" charset="0"/>
                <a:ea typeface="Pretendard" pitchFamily="34" charset="-122"/>
                <a:cs typeface="Pretendard" pitchFamily="34" charset="-120"/>
              </a:rPr>
              <a:t>±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Pretendard" pitchFamily="34" charset="0"/>
                <a:ea typeface="Pretendard" pitchFamily="34" charset="-122"/>
                <a:cs typeface="Pretendard" pitchFamily="34" charset="-120"/>
              </a:rPr>
              <a:t>-5.07</a:t>
            </a:r>
            <a:endParaRPr lang="en-US" sz="4000" dirty="0"/>
          </a:p>
          <a:p>
            <a:pPr algn="ctr" indent="0" marL="0">
              <a:buNone/>
            </a:pPr>
            <a:r>
              <a:rPr lang="en-US" sz="2000" b="1" dirty="0">
                <a:solidFill>
                  <a:srgbClr val="D97706"/>
                </a:solidFill>
                <a:latin typeface="Pretendard" pitchFamily="34" charset="0"/>
                <a:ea typeface="Pretendard" pitchFamily="34" charset="-122"/>
                <a:cs typeface="Pretendard" pitchFamily="34" charset="-120"/>
              </a:rPr>
              <a:t>±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Pretendard" pitchFamily="34" charset="0"/>
                <a:ea typeface="Pretendard" pitchFamily="34" charset="-122"/>
                <a:cs typeface="Pretendard"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Pretendard" pitchFamily="34" charset="0"/>
                <a:ea typeface="Pretendard" pitchFamily="34" charset="-122"/>
                <a:cs typeface="Pretendard" pitchFamily="34" charset="-120"/>
              </a:rPr>
              <a:t>치주인대(PDL) 폭이 코르티코스테로이드군에서 가장 넓게 유지(압박·긴장측 모두) — 대조군이 가장 좁음, 비타민D·PGE₂군은 중간 수준.</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Pretendard" pitchFamily="34" charset="0"/>
                <a:ea typeface="Pretendard" pitchFamily="34" charset="-122"/>
                <a:cs typeface="Pretendard"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조직학적 소견 — 코르티코스테로이드군에서 PDL 폭 가장 넓게 유지</a:t>
            </a:r>
            <a:endParaRPr lang="en-US" sz="2400" dirty="0"/>
          </a:p>
        </p:txBody>
      </p:sp>
      <p:pic>
        <p:nvPicPr>
          <p:cNvPr id="4" name="Image 0" descr="/home/user/-/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Pretendard" pitchFamily="34" charset="0"/>
                <a:ea typeface="Pretendard" pitchFamily="34" charset="-122"/>
                <a:cs typeface="Pretendard"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코르티코스테로이드군(C) — 압박·긴장측 모두 해당</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비타민D(D)·PGE₂(E)군 — 중간 수준의 PDL 폭</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스테로이드성 항염증제</a:t>
            </a:r>
            <a:endParaRPr lang="en-US" sz="1050" dirty="0"/>
          </a:p>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지용성 호르몬</a:t>
            </a:r>
            <a:endParaRPr lang="en-US" sz="1050" dirty="0"/>
          </a:p>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지질 매개체(autacoid)</a:t>
            </a:r>
            <a:endParaRPr lang="en-US" sz="1050" dirty="0"/>
          </a:p>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Pretendard" pitchFamily="34" charset="0"/>
                <a:ea typeface="Pretendard" pitchFamily="34" charset="-122"/>
                <a:cs typeface="Pretendard" pitchFamily="34" charset="-120"/>
              </a:rPr>
              <a:t>핵심 시사점  </a:t>
            </a:r>
            <a:pPr indent="0" marL="0">
              <a:lnSpc>
                <a:spcPct val="130000"/>
              </a:lnSpc>
              <a:buNone/>
            </a:pPr>
            <a:r>
              <a:rPr lang="en-US" sz="1200" dirty="0">
                <a:solidFill>
                  <a:srgbClr val="16232E"/>
                </a:solidFill>
                <a:latin typeface="Pretendard" pitchFamily="34" charset="0"/>
                <a:ea typeface="Pretendard" pitchFamily="34" charset="-122"/>
                <a:cs typeface="Pretendard"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Pretendard" pitchFamily="34" charset="0"/>
                <a:ea typeface="Pretendard" pitchFamily="34" charset="-122"/>
                <a:cs typeface="Pretendard" pitchFamily="34" charset="-120"/>
              </a:rPr>
              <a:t>치과교정학 기본원칙과의 연결  </a:t>
            </a:r>
            <a:pPr indent="0" marL="0">
              <a:lnSpc>
                <a:spcPct val="130000"/>
              </a:lnSpc>
              <a:buNone/>
            </a:pPr>
            <a:r>
              <a:rPr lang="en-US" sz="1200" dirty="0">
                <a:solidFill>
                  <a:srgbClr val="16232E"/>
                </a:solidFill>
                <a:latin typeface="Pretendard" pitchFamily="34" charset="0"/>
                <a:ea typeface="Pretendard" pitchFamily="34" charset="-122"/>
                <a:cs typeface="Pretendard"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Pretendard" pitchFamily="34" charset="0"/>
                <a:ea typeface="Pretendard" pitchFamily="34" charset="-122"/>
                <a:cs typeface="Pretendard"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Pretendard" pitchFamily="34" charset="0"/>
                <a:ea typeface="Pretendard" pitchFamily="34" charset="-122"/>
                <a:cs typeface="Pretendard"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Pretendard" pitchFamily="34" charset="0"/>
                <a:ea typeface="Pretendard" pitchFamily="34" charset="-122"/>
                <a:cs typeface="Pretendard"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전신 코르티코스테로이드의 골 관련 부작용(골다공증·골괴사, 조골세포↓·파골세포↑, 성장억제)은 이 연구의 국소 주입과 별개로 교안에 명시된 위험 — 장기 전신 스테로이드 환자의 치아이동 계획 시 반드시 고려</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Pretendard" pitchFamily="34" charset="0"/>
                <a:ea typeface="Pretendard" pitchFamily="34" charset="-122"/>
                <a:cs typeface="Pretendard"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Pretendard" pitchFamily="34" charset="0"/>
                <a:ea typeface="Pretendard" pitchFamily="34" charset="-122"/>
                <a:cs typeface="Pretendard"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Pretendard" pitchFamily="34" charset="0"/>
                <a:ea typeface="Pretendard" pitchFamily="34" charset="-122"/>
                <a:cs typeface="Pretendard"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Pretendard" pitchFamily="34" charset="0"/>
                <a:ea typeface="Pretendard" pitchFamily="34" charset="-122"/>
                <a:cs typeface="Pretendard"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Pretendard" pitchFamily="34" charset="0"/>
                <a:ea typeface="Pretendard" pitchFamily="34" charset="-122"/>
                <a:cs typeface="Pretendard"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Pretendard" pitchFamily="34" charset="0"/>
                <a:ea typeface="Pretendard" pitchFamily="34" charset="-122"/>
                <a:cs typeface="Pretendard"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Pretendard" pitchFamily="34" charset="0"/>
                <a:ea typeface="Pretendard" pitchFamily="34" charset="-122"/>
                <a:cs typeface="Pretendard"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Pretendard" pitchFamily="34" charset="0"/>
                <a:ea typeface="Pretendard" pitchFamily="34" charset="-122"/>
                <a:cs typeface="Pretendard"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Pretendard" pitchFamily="34" charset="0"/>
                <a:ea typeface="Pretendard" pitchFamily="34" charset="-122"/>
                <a:cs typeface="Pretendard"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Pretendard" pitchFamily="34" charset="0"/>
                <a:ea typeface="Pretendard" pitchFamily="34" charset="-122"/>
                <a:cs typeface="Pretendard"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Pretendard" pitchFamily="34" charset="0"/>
                <a:ea typeface="Pretendard" pitchFamily="34" charset="-122"/>
                <a:cs typeface="Pretendard"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Pretendard" pitchFamily="34" charset="0"/>
                <a:ea typeface="Pretendard" pitchFamily="34" charset="-122"/>
                <a:cs typeface="Pretendard" pitchFamily="34" charset="-120"/>
              </a:rPr>
              <a:t>감사합니다</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재발이 '가장 적은' 군은 대조군도 PGE₂군도 아닌, 둘의 통계적 동률이다</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양성대조</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(CPG)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PGE₂</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(PGE₂G)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비타민D</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(VDG)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코르티코스테로이드</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(COG)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2주 재발량(T0 대비)</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-1.09 ± 0.17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-0.86 ± 0.23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-2.75 ± 0.15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-5.07 ± 0.87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원문 유의성 문자</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a</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a</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b</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c</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Pretendard" pitchFamily="34" charset="0"/>
                <a:ea typeface="Pretendard" pitchFamily="34" charset="-122"/>
                <a:cs typeface="Pretendard"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Pretendard" pitchFamily="34" charset="0"/>
                <a:ea typeface="Pretendard" pitchFamily="34" charset="-122"/>
                <a:cs typeface="Pretendard" pitchFamily="34" charset="-120"/>
              </a:rPr>
              <a:t>핵심 수치  </a:t>
            </a:r>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Pretendard" pitchFamily="34" charset="0"/>
                <a:ea typeface="Pretendard" pitchFamily="34" charset="-122"/>
                <a:cs typeface="Pretendard" pitchFamily="34" charset="-120"/>
              </a:rPr>
              <a:t>통계적으로 유의미한 계층 구조  </a:t>
            </a:r>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{양성대조, PGE2} &lt; 비타민D &lt; 코르티코스테로이드 (재발 적은 순)
</a:t>
            </a:r>
            <a:pPr indent="0" marL="0">
              <a:lnSpc>
                <a:spcPct val="135000"/>
              </a:lnSpc>
              <a:buNone/>
            </a:pPr>
            <a:r>
              <a:rPr lang="en-US" sz="1250" b="1" dirty="0">
                <a:solidFill>
                  <a:srgbClr val="1B4965"/>
                </a:solidFill>
                <a:latin typeface="Pretendard" pitchFamily="34" charset="0"/>
                <a:ea typeface="Pretendard" pitchFamily="34" charset="-122"/>
                <a:cs typeface="Pretendard" pitchFamily="34" charset="-120"/>
              </a:rPr>
              <a:t>원문 서술 간 불일치 주의  </a:t>
            </a:r>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2026-09-29T17:55:58Z</dcterms:created>
  <dcterms:modified xsi:type="dcterms:W3CDTF">2026-09-29T17:55:58Z</dcterms:modified>
</cp:coreProperties>
</file>