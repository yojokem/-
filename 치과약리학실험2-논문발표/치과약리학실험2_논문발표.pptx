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세포질 수용체와 결합한 뒤 이량체화되어 핵으로 이동하고, COX-2를 비롯한 염증유전자의 전사를 억제합니다. 그런데 동시에 파골세포형성을 직접 자극하고 콜라게나아제 활성도 높여서, 골흡수를 가장 강하게 촉진합니다. 치과약리학 교안(34장)에도 코르티코스테로이드의 골격계 작용으로 조골세포 활성은 감소시키고 파골세포 활성은 증가시킨다고 나와 있습니다.
비타민D는 비타민D수용체, VDR에 결합해서 표적유전자 발현을 조절하는 방식으로 파골세포 활성 자체를 높이면서 면역매개체를 조절합니다. PGE2는 아라키돈산이 유도형 COX-2를 거쳐 PGE2로 전환된 뒤 EP 수용체를 통해 RANKL 발현을 유도해서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이건 이 연구의 국소 주입과는 별개로, 전신 코르티코스테로이드 자체가 골다공증·골괴사, 조골세포 활성 감소·파골세포 활성 증가, 성장억제 같은 부작용을 갖는다고 치과약리학 교안(34장)에 명시돼 있기 때문인데요, 장기간 전신 스테로이드를 복용 중인 환자의 치아이동 계획을 세울 때는 이 부분도 함께 고려해야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
Q6. 코르티코스테로이드는 COX-2 발현을 억제해서 PGE2 생성을 줄일 텐데, 왜 치아이동 가속이 가장 컸는가?
→ 논문은 코르티코스테로이드의 가속 기전을 '염증유전자 발현 억제 + 파골세포형성 자극 + 콜라게나아제 활성 증가'로 설명하고, PGE2 경로를 거친다고는 하지 않습니다. 치과약리학 교안(34장)에도 코르티코스테로이드가 조골세포 활성은 낮추고 파골세포 활성은 높인다고 나와 있어서, COX-2·PGE2를 거치지 않는 경로로 골흡수가 촉진됐을 가능성이 있습니다. 다만 이 연구는 COX-2나 PGE2 수치를 직접 측정하지 않았기 때문에, 정확한 기전은 문헌에 근거한 추정이고 후속 연구가 필요하다고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Pretendard" pitchFamily="34" charset="0"/>
                <a:ea typeface="Pretendard" pitchFamily="34" charset="-122"/>
                <a:cs typeface="Pretendard" pitchFamily="34" charset="-120"/>
              </a:rPr>
              <a:t>2026-2 〈치과약리학실험2〉</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Three Pharmacological Agents for Acceleratory</a:t>
            </a:r>
            <a:endParaRPr lang="en-US" sz="2700" dirty="0"/>
          </a:p>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Pretendard" pitchFamily="34" charset="0"/>
                <a:ea typeface="Pretendard" pitchFamily="34" charset="-122"/>
                <a:cs typeface="Pretendard"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International Orthodontics, 2026;24:101112 (Elsevier)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Hamed SA, et al. (Mansoura University, Egypt)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발표자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7" name="Text 5"/>
          <p:cNvSpPr txBox="1"/>
          <p:nvPr/>
        </p:nvSpPr>
        <p:spPr>
          <a:xfrm>
            <a:off x="1783080" y="214884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783080" y="368503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5"/>
          <p:cNvSpPr txBox="1"/>
          <p:nvPr/>
        </p:nvSpPr>
        <p:spPr>
          <a:xfrm>
            <a:off x="1783080" y="522122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29184"/>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MECHANISM</a:t>
            </a:r>
            <a:endParaRPr lang="en-US" sz="1200" dirty="0"/>
          </a:p>
        </p:txBody>
      </p:sp>
      <p:sp>
        <p:nvSpPr>
          <p:cNvPr id="3" name="Text 1"/>
          <p:cNvSpPr txBox="1"/>
          <p:nvPr/>
        </p:nvSpPr>
        <p:spPr>
          <a:xfrm>
            <a:off x="649224"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세포질 수용체와 결합→이량체화→핵 이동,</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COX-2 등 염증유전자 전사 억제 + 파골세포형성 직접 자극 + collagenase 활성 증가 (조골세포↓·파골세포↑)</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Pretendard" pitchFamily="34" charset="0"/>
                <a:ea typeface="Pretendard" pitchFamily="34" charset="-122"/>
                <a:cs typeface="Pretendard"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비타민D수용체(VDR)와 결합</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표적 유전자 발현 조절로 파골세포 활성 자체를 증가시키고 면역 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골개조 촉진</a:t>
            </a:r>
            <a:endParaRPr lang="en-US" sz="1200" dirty="0"/>
          </a:p>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osteocalcin·비타민D수용체 유전자 발현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000" dirty="0">
                <a:solidFill>
                  <a:srgbClr val="16232E"/>
                </a:solidFill>
                <a:latin typeface="Pretendard" pitchFamily="34" charset="0"/>
                <a:ea typeface="Pretendard" pitchFamily="34" charset="-122"/>
                <a:cs typeface="Pretendard" pitchFamily="34" charset="-120"/>
              </a:rPr>
              <a:t>(아라키돈산이 유도형 COX-2를 거쳐 PGE₂로 전환)</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EP 수용체 통해 RANKL 발현 유도,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Pretendard" pitchFamily="34" charset="0"/>
                <a:ea typeface="Pretendard" pitchFamily="34" charset="-122"/>
                <a:cs typeface="Pretendard"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Pretendard" pitchFamily="34" charset="0"/>
                <a:ea typeface="Pretendard" pitchFamily="34" charset="-122"/>
                <a:cs typeface="Pretendard"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Pretendard" pitchFamily="34" charset="0"/>
                <a:ea typeface="Pretendard" pitchFamily="34" charset="-122"/>
                <a:cs typeface="Pretendard"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Pretendard" pitchFamily="34" charset="0"/>
                <a:ea typeface="Pretendard" pitchFamily="34" charset="-122"/>
                <a:cs typeface="Pretendard"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Pretendard" pitchFamily="34" charset="0"/>
                <a:ea typeface="Pretendard" pitchFamily="34" charset="-122"/>
                <a:cs typeface="Pretendard"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Pretendard" pitchFamily="34" charset="0"/>
                <a:ea typeface="Pretendard" pitchFamily="34" charset="-122"/>
                <a:cs typeface="Pretendard"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Pretendard" pitchFamily="34" charset="0"/>
                <a:ea typeface="Pretendard" pitchFamily="34" charset="-122"/>
                <a:cs typeface="Pretendard"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무작위배정, 눈가림(2번째 저자가 배정)— 최종 배정 후엔 주 연구자 1인이 개입·측정·평가 전부 수행</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측정: 디지털 캘리퍼(0.01mm)로 절치 간 거리</a:t>
            </a:r>
            <a:endParaRPr lang="en-US" sz="1200" dirty="0"/>
          </a:p>
        </p:txBody>
      </p:sp>
      <p:sp>
        <p:nvSpPr>
          <p:cNvPr id="7" name="Shape 5"/>
          <p:cNvSpPr/>
          <p:nvPr/>
        </p:nvSpPr>
        <p:spPr>
          <a:xfrm>
            <a:off x="960120" y="4014216"/>
            <a:ext cx="347472" cy="301752"/>
          </a:xfrm>
          <a:prstGeom prst="roundRect">
            <a:avLst>
              <a:gd name="adj" fmla="val 18182"/>
            </a:avLst>
          </a:prstGeom>
          <a:solidFill>
            <a:srgbClr val="9AA5B1"/>
          </a:solidFill>
          <a:ln/>
        </p:spPr>
      </p:sp>
      <p:sp>
        <p:nvSpPr>
          <p:cNvPr id="8" name="Text 6"/>
          <p:cNvSpPr txBox="1"/>
          <p:nvPr/>
        </p:nvSpPr>
        <p:spPr>
          <a:xfrm>
            <a:off x="960120" y="401421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a:t>
            </a:r>
            <a:endParaRPr lang="en-US" sz="1100" dirty="0"/>
          </a:p>
        </p:txBody>
      </p:sp>
      <p:sp>
        <p:nvSpPr>
          <p:cNvPr id="9" name="Text 7"/>
          <p:cNvSpPr txBox="1"/>
          <p:nvPr/>
        </p:nvSpPr>
        <p:spPr>
          <a:xfrm>
            <a:off x="1426464" y="398678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음성대조</a:t>
            </a:r>
            <a:endParaRPr lang="en-US" sz="1100" dirty="0"/>
          </a:p>
        </p:txBody>
      </p:sp>
      <p:sp>
        <p:nvSpPr>
          <p:cNvPr id="10" name="Text 8"/>
          <p:cNvSpPr txBox="1"/>
          <p:nvPr/>
        </p:nvSpPr>
        <p:spPr>
          <a:xfrm>
            <a:off x="3749040" y="398678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무처치, OTM 없음</a:t>
            </a:r>
            <a:endParaRPr lang="en-US" sz="1050" dirty="0"/>
          </a:p>
        </p:txBody>
      </p:sp>
      <p:sp>
        <p:nvSpPr>
          <p:cNvPr id="11" name="Shape 9"/>
          <p:cNvSpPr/>
          <p:nvPr/>
        </p:nvSpPr>
        <p:spPr>
          <a:xfrm>
            <a:off x="960120" y="4370832"/>
            <a:ext cx="347472" cy="301752"/>
          </a:xfrm>
          <a:prstGeom prst="roundRect">
            <a:avLst>
              <a:gd name="adj" fmla="val 18182"/>
            </a:avLst>
          </a:prstGeom>
          <a:solidFill>
            <a:srgbClr val="9AA5B1"/>
          </a:solidFill>
          <a:ln/>
        </p:spPr>
      </p:sp>
      <p:sp>
        <p:nvSpPr>
          <p:cNvPr id="12" name="Text 10"/>
          <p:cNvSpPr txBox="1"/>
          <p:nvPr/>
        </p:nvSpPr>
        <p:spPr>
          <a:xfrm>
            <a:off x="960120" y="437083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a:t>
            </a:r>
            <a:endParaRPr lang="en-US" sz="1100" dirty="0"/>
          </a:p>
        </p:txBody>
      </p:sp>
      <p:sp>
        <p:nvSpPr>
          <p:cNvPr id="13" name="Text 11"/>
          <p:cNvSpPr txBox="1"/>
          <p:nvPr/>
        </p:nvSpPr>
        <p:spPr>
          <a:xfrm>
            <a:off x="1426464" y="434340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양성대조(CPG)</a:t>
            </a:r>
            <a:endParaRPr lang="en-US" sz="1100" dirty="0"/>
          </a:p>
        </p:txBody>
      </p:sp>
      <p:sp>
        <p:nvSpPr>
          <p:cNvPr id="14" name="Text 12"/>
          <p:cNvSpPr txBox="1"/>
          <p:nvPr/>
        </p:nvSpPr>
        <p:spPr>
          <a:xfrm>
            <a:off x="3749040" y="434340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OTM만, 약물 없음</a:t>
            </a:r>
            <a:endParaRPr lang="en-US" sz="1050" dirty="0"/>
          </a:p>
        </p:txBody>
      </p:sp>
      <p:sp>
        <p:nvSpPr>
          <p:cNvPr id="15" name="Shape 13"/>
          <p:cNvSpPr/>
          <p:nvPr/>
        </p:nvSpPr>
        <p:spPr>
          <a:xfrm>
            <a:off x="960120" y="4727448"/>
            <a:ext cx="347472" cy="301752"/>
          </a:xfrm>
          <a:prstGeom prst="roundRect">
            <a:avLst>
              <a:gd name="adj" fmla="val 18182"/>
            </a:avLst>
          </a:prstGeom>
          <a:solidFill>
            <a:srgbClr val="D97706"/>
          </a:solidFill>
          <a:ln/>
        </p:spPr>
      </p:sp>
      <p:sp>
        <p:nvSpPr>
          <p:cNvPr id="16" name="Text 14"/>
          <p:cNvSpPr txBox="1"/>
          <p:nvPr/>
        </p:nvSpPr>
        <p:spPr>
          <a:xfrm>
            <a:off x="960120" y="472744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III</a:t>
            </a:r>
            <a:endParaRPr lang="en-US" sz="1100" dirty="0"/>
          </a:p>
        </p:txBody>
      </p:sp>
      <p:sp>
        <p:nvSpPr>
          <p:cNvPr id="17" name="Text 15"/>
          <p:cNvSpPr txBox="1"/>
          <p:nvPr/>
        </p:nvSpPr>
        <p:spPr>
          <a:xfrm>
            <a:off x="1426464" y="470001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코르티코스테로이드(COG)</a:t>
            </a:r>
            <a:endParaRPr lang="en-US" sz="1100" dirty="0"/>
          </a:p>
        </p:txBody>
      </p:sp>
      <p:sp>
        <p:nvSpPr>
          <p:cNvPr id="18" name="Text 16"/>
          <p:cNvSpPr txBox="1"/>
          <p:nvPr/>
        </p:nvSpPr>
        <p:spPr>
          <a:xfrm>
            <a:off x="3749040" y="470001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50µL 8mg/kg, 매일 주입</a:t>
            </a:r>
            <a:endParaRPr lang="en-US" sz="1050" dirty="0"/>
          </a:p>
        </p:txBody>
      </p:sp>
      <p:sp>
        <p:nvSpPr>
          <p:cNvPr id="19" name="Shape 17"/>
          <p:cNvSpPr/>
          <p:nvPr/>
        </p:nvSpPr>
        <p:spPr>
          <a:xfrm>
            <a:off x="960120" y="5084064"/>
            <a:ext cx="347472" cy="301752"/>
          </a:xfrm>
          <a:prstGeom prst="roundRect">
            <a:avLst>
              <a:gd name="adj" fmla="val 18182"/>
            </a:avLst>
          </a:prstGeom>
          <a:solidFill>
            <a:srgbClr val="3D7EA6"/>
          </a:solidFill>
          <a:ln/>
        </p:spPr>
      </p:sp>
      <p:sp>
        <p:nvSpPr>
          <p:cNvPr id="20" name="Text 18"/>
          <p:cNvSpPr txBox="1"/>
          <p:nvPr/>
        </p:nvSpPr>
        <p:spPr>
          <a:xfrm>
            <a:off x="960120" y="508406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IV</a:t>
            </a:r>
            <a:endParaRPr lang="en-US" sz="1100" dirty="0"/>
          </a:p>
        </p:txBody>
      </p:sp>
      <p:sp>
        <p:nvSpPr>
          <p:cNvPr id="21" name="Text 19"/>
          <p:cNvSpPr txBox="1"/>
          <p:nvPr/>
        </p:nvSpPr>
        <p:spPr>
          <a:xfrm>
            <a:off x="1426464" y="505663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비타민D(VDG)</a:t>
            </a:r>
            <a:endParaRPr lang="en-US" sz="1100" dirty="0"/>
          </a:p>
        </p:txBody>
      </p:sp>
      <p:sp>
        <p:nvSpPr>
          <p:cNvPr id="22" name="Text 20"/>
          <p:cNvSpPr txBox="1"/>
          <p:nvPr/>
        </p:nvSpPr>
        <p:spPr>
          <a:xfrm>
            <a:off x="3749040" y="505663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20µL 10⁻¹⁰mol/L, 3일마다 주입</a:t>
            </a:r>
            <a:endParaRPr lang="en-US" sz="1050" dirty="0"/>
          </a:p>
        </p:txBody>
      </p:sp>
      <p:sp>
        <p:nvSpPr>
          <p:cNvPr id="23" name="Shape 21"/>
          <p:cNvSpPr/>
          <p:nvPr/>
        </p:nvSpPr>
        <p:spPr>
          <a:xfrm>
            <a:off x="960120" y="5440680"/>
            <a:ext cx="347472" cy="301752"/>
          </a:xfrm>
          <a:prstGeom prst="roundRect">
            <a:avLst>
              <a:gd name="adj" fmla="val 18182"/>
            </a:avLst>
          </a:prstGeom>
          <a:solidFill>
            <a:srgbClr val="2F855A"/>
          </a:solidFill>
          <a:ln/>
        </p:spPr>
      </p:sp>
      <p:sp>
        <p:nvSpPr>
          <p:cNvPr id="24" name="Text 22"/>
          <p:cNvSpPr txBox="1"/>
          <p:nvPr/>
        </p:nvSpPr>
        <p:spPr>
          <a:xfrm>
            <a:off x="960120" y="544068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V</a:t>
            </a:r>
            <a:endParaRPr lang="en-US" sz="1100" dirty="0"/>
          </a:p>
        </p:txBody>
      </p:sp>
      <p:sp>
        <p:nvSpPr>
          <p:cNvPr id="25" name="Text 23"/>
          <p:cNvSpPr txBox="1"/>
          <p:nvPr/>
        </p:nvSpPr>
        <p:spPr>
          <a:xfrm>
            <a:off x="1426464" y="541324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PGE₂(PGE₂G)</a:t>
            </a:r>
            <a:endParaRPr lang="en-US" sz="1100" dirty="0"/>
          </a:p>
        </p:txBody>
      </p:sp>
      <p:sp>
        <p:nvSpPr>
          <p:cNvPr id="26" name="Text 24"/>
          <p:cNvSpPr txBox="1"/>
          <p:nvPr/>
        </p:nvSpPr>
        <p:spPr>
          <a:xfrm>
            <a:off x="3749040" y="541324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Pretendard" pitchFamily="34" charset="0"/>
                <a:ea typeface="Pretendard" pitchFamily="34" charset="-122"/>
                <a:cs typeface="Pretendard"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데이터의 정규 분포성 확인</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3개 이상 군의 평균을 한 번에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ANOVA가 유의하면 모든 군을 쌍(pair)으로 나눠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같은 개체를 두 시점에서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이 논문의 분석 흐름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p &lt; 0.05의 의미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대조군(1.29±0.11mm) 대비 세 약물 모두 유의하게 가속 (p &lt; 0.001)</a:t>
            </a:r>
            <a:endParaRPr lang="en-US" sz="1300" dirty="0"/>
          </a:p>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2743200"/>
                <a:gridCol w="2103120"/>
                <a:gridCol w="2468880"/>
                <a:gridCol w="2103120"/>
                <a:gridCol w="1490472"/>
              </a:tblGrid>
              <a:tr h="502920">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군</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양성대조(CPG)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코르티코스테로이드(COG)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비타민D(VDG)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PGE₂(PGE₂G)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4주 후 이동량(직후 대비 증가분)</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1.29 ± 0.11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6.50 ± 0.88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3.73 ± 0.14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2.80 ± 0.15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Pretendard" pitchFamily="34" charset="0"/>
                <a:ea typeface="Pretendard" pitchFamily="34" charset="-122"/>
                <a:cs typeface="Pretendard" pitchFamily="34" charset="-120"/>
              </a:rPr>
              <a:t>-1.09</a:t>
            </a:r>
            <a:endParaRPr lang="en-US" sz="4000" dirty="0"/>
          </a:p>
          <a:p>
            <a:pPr algn="ctr" indent="0" marL="0">
              <a:buNone/>
            </a:pPr>
            <a:r>
              <a:rPr lang="en-US" sz="2000" b="1" dirty="0">
                <a:solidFill>
                  <a:srgbClr val="9AA5B1"/>
                </a:solidFill>
                <a:latin typeface="Pretendard" pitchFamily="34" charset="0"/>
                <a:ea typeface="Pretendard" pitchFamily="34" charset="-122"/>
                <a:cs typeface="Pretendard" pitchFamily="34" charset="-120"/>
              </a:rPr>
              <a:t>±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-0.86</a:t>
            </a:r>
            <a:endParaRPr lang="en-US" sz="4000" dirty="0"/>
          </a:p>
          <a:p>
            <a:pPr algn="ctr" indent="0" marL="0">
              <a:buNone/>
            </a:pPr>
            <a:r>
              <a:rPr lang="en-US" sz="2000" b="1" dirty="0">
                <a:solidFill>
                  <a:srgbClr val="2F855A"/>
                </a:solidFill>
                <a:latin typeface="Pretendard" pitchFamily="34" charset="0"/>
                <a:ea typeface="Pretendard" pitchFamily="34" charset="-122"/>
                <a:cs typeface="Pretendard" pitchFamily="34" charset="-120"/>
              </a:rPr>
              <a:t>±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-2.75</a:t>
            </a:r>
            <a:endParaRPr lang="en-US" sz="4000" dirty="0"/>
          </a:p>
          <a:p>
            <a:pPr algn="ctr" indent="0" marL="0">
              <a:buNone/>
            </a:pPr>
            <a:r>
              <a:rPr lang="en-US" sz="2000" b="1" dirty="0">
                <a:solidFill>
                  <a:srgbClr val="3D7EA6"/>
                </a:solidFill>
                <a:latin typeface="Pretendard" pitchFamily="34" charset="0"/>
                <a:ea typeface="Pretendard" pitchFamily="34" charset="-122"/>
                <a:cs typeface="Pretendard" pitchFamily="34" charset="-120"/>
              </a:rPr>
              <a:t>±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-5.07</a:t>
            </a:r>
            <a:endParaRPr lang="en-US" sz="4000" dirty="0"/>
          </a:p>
          <a:p>
            <a:pPr algn="ctr" indent="0" marL="0">
              <a:buNone/>
            </a:pPr>
            <a:r>
              <a:rPr lang="en-US" sz="2000" b="1" dirty="0">
                <a:solidFill>
                  <a:srgbClr val="D97706"/>
                </a:solidFill>
                <a:latin typeface="Pretendard" pitchFamily="34" charset="0"/>
                <a:ea typeface="Pretendard" pitchFamily="34" charset="-122"/>
                <a:cs typeface="Pretendard" pitchFamily="34" charset="-120"/>
              </a:rPr>
              <a:t>±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Pretendard" pitchFamily="34" charset="0"/>
                <a:ea typeface="Pretendard" pitchFamily="34" charset="-122"/>
                <a:cs typeface="Pretendard"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Pretendard" pitchFamily="34" charset="0"/>
                <a:ea typeface="Pretendard" pitchFamily="34" charset="-122"/>
                <a:cs typeface="Pretendard"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Pretendard" pitchFamily="34" charset="0"/>
                <a:ea typeface="Pretendard" pitchFamily="34" charset="-122"/>
                <a:cs typeface="Pretendard"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비타민D(D)·PGE₂(E)군 — 중간 수준의 PDL 폭</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스테로이드성 항염증제</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지용성 호르몬</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지질 매개체(autacoid)</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핵심 시사점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치과교정학 기본원칙과의 연결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전신 코르티코스테로이드의 골 관련 부작용(골다공증·골괴사, 조골세포↓·파골세포↑, 성장억제)은 이 연구의 국소 주입과 별개로 교안에 명시된 위험 — 장기 전신 스테로이드 환자의 치아이동 계획 시 반드시 고려</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Pretendard" pitchFamily="34" charset="0"/>
                <a:ea typeface="Pretendard" pitchFamily="34" charset="-122"/>
                <a:cs typeface="Pretendard"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Pretendard" pitchFamily="34" charset="0"/>
                <a:ea typeface="Pretendard" pitchFamily="34" charset="-122"/>
                <a:cs typeface="Pretendard"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Pretendard" pitchFamily="34" charset="0"/>
                <a:ea typeface="Pretendard" pitchFamily="34" charset="-122"/>
                <a:cs typeface="Pretendard"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Pretendard" pitchFamily="34" charset="0"/>
                <a:ea typeface="Pretendard" pitchFamily="34" charset="-122"/>
                <a:cs typeface="Pretendard"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Pretendard" pitchFamily="34" charset="0"/>
                <a:ea typeface="Pretendard" pitchFamily="34" charset="-122"/>
                <a:cs typeface="Pretendard"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Pretendard" pitchFamily="34" charset="0"/>
                <a:ea typeface="Pretendard" pitchFamily="34" charset="-122"/>
                <a:cs typeface="Pretendard"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양성대조</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(CPG)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PGE₂</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(PGE₂G)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비타민D</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(VDG)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코르티코스테로이드</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(COG)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2주 재발량(T0 대비)</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-1.09 ± 0.17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-0.86 ± 0.23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-2.75 ± 0.15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-5.07 ± 0.87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원문 유의성 문자</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b</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c</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Pretendard" pitchFamily="34" charset="0"/>
                <a:ea typeface="Pretendard" pitchFamily="34" charset="-122"/>
                <a:cs typeface="Pretendard"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핵심 수치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통계적으로 유의미한 계층 구조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PGE2} &lt; 비타민D &lt; 코르티코스테로이드 (재발 적은 순)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원문 서술 간 불일치 주의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2026-09-29T17:37:47Z</dcterms:created>
  <dcterms:modified xsi:type="dcterms:W3CDTF">2026-09-29T17:37:47Z</dcterms:modified>
</cp:coreProperties>
</file>