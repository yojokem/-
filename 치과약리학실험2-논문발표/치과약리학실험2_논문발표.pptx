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염증 유전자 발현을 억제하면서 동시에 파골세포형성을 직접 자극하고 콜라게나아제 활성도 높여서, 골흡수를 가장 강하게 촉진합니다. 비타민D는 파골세포 활성 자체를 높이면서 면역매개체를 조절하는 방식으로 작용하고요. PGE2는 RANKL을 매개로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9에서 더 자세히 다루겠습니다.
[발표 팁] 구강생화학 '뼈와 치아의 석회화, 혈청칼슘 항상성' 챕터에서 배운 칼슘/인 대사 조절호르몬(비타민D, PTH 등) 내용과 연결지어 설명하면 좋음. 세 경로의 차이는 슬라이드 9(치과약리학적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4:20~5:10]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5:10~5:40]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5:40~7:00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8:30~9:15]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9:15~10:00]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치과약리학실험2 · 논문 발표</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187452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41071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494690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염증 유전자 발현 억제 + 파골세포형성(osteoclastogenesis) 직접 자극 + 콜라게나아제 활성 증가</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파골세포 활성 자체를 증가시키고 면역매개체를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 + osteocalcin·비타민D수용체 유전자 발현에도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RANKL 매개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251960"/>
            <a:ext cx="347472" cy="301752"/>
          </a:xfrm>
          <a:prstGeom prst="roundRect">
            <a:avLst>
              <a:gd name="adj" fmla="val 18182"/>
            </a:avLst>
          </a:prstGeom>
          <a:solidFill>
            <a:srgbClr val="9AA5B1"/>
          </a:solidFill>
          <a:ln/>
        </p:spPr>
      </p:sp>
      <p:sp>
        <p:nvSpPr>
          <p:cNvPr id="8" name="Text 6"/>
          <p:cNvSpPr txBox="1"/>
          <p:nvPr/>
        </p:nvSpPr>
        <p:spPr>
          <a:xfrm>
            <a:off x="960120" y="425196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422452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422452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608576"/>
            <a:ext cx="347472" cy="301752"/>
          </a:xfrm>
          <a:prstGeom prst="roundRect">
            <a:avLst>
              <a:gd name="adj" fmla="val 18182"/>
            </a:avLst>
          </a:prstGeom>
          <a:solidFill>
            <a:srgbClr val="9AA5B1"/>
          </a:solidFill>
          <a:ln/>
        </p:spPr>
      </p:sp>
      <p:sp>
        <p:nvSpPr>
          <p:cNvPr id="12" name="Text 10"/>
          <p:cNvSpPr txBox="1"/>
          <p:nvPr/>
        </p:nvSpPr>
        <p:spPr>
          <a:xfrm>
            <a:off x="960120" y="460857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58114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58114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965192"/>
            <a:ext cx="347472" cy="301752"/>
          </a:xfrm>
          <a:prstGeom prst="roundRect">
            <a:avLst>
              <a:gd name="adj" fmla="val 18182"/>
            </a:avLst>
          </a:prstGeom>
          <a:solidFill>
            <a:srgbClr val="D97706"/>
          </a:solidFill>
          <a:ln/>
        </p:spPr>
      </p:sp>
      <p:sp>
        <p:nvSpPr>
          <p:cNvPr id="16" name="Text 14"/>
          <p:cNvSpPr txBox="1"/>
          <p:nvPr/>
        </p:nvSpPr>
        <p:spPr>
          <a:xfrm>
            <a:off x="960120" y="496519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93776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93776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321808"/>
            <a:ext cx="347472" cy="301752"/>
          </a:xfrm>
          <a:prstGeom prst="roundRect">
            <a:avLst>
              <a:gd name="adj" fmla="val 18182"/>
            </a:avLst>
          </a:prstGeom>
          <a:solidFill>
            <a:srgbClr val="3D7EA6"/>
          </a:solidFill>
          <a:ln/>
        </p:spPr>
      </p:sp>
      <p:sp>
        <p:nvSpPr>
          <p:cNvPr id="20" name="Text 18"/>
          <p:cNvSpPr txBox="1"/>
          <p:nvPr/>
        </p:nvSpPr>
        <p:spPr>
          <a:xfrm>
            <a:off x="960120" y="532180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29437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29437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678424"/>
            <a:ext cx="347472" cy="301752"/>
          </a:xfrm>
          <a:prstGeom prst="roundRect">
            <a:avLst>
              <a:gd name="adj" fmla="val 18182"/>
            </a:avLst>
          </a:prstGeom>
          <a:solidFill>
            <a:srgbClr val="2F855A"/>
          </a:solidFill>
          <a:ln/>
        </p:spPr>
      </p:sp>
      <p:sp>
        <p:nvSpPr>
          <p:cNvPr id="24" name="Text 22"/>
          <p:cNvSpPr txBox="1"/>
          <p:nvPr/>
        </p:nvSpPr>
        <p:spPr>
          <a:xfrm>
            <a:off x="960120" y="567842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65099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65099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i="1"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 — 가속 순위: 코르티코스테로이드 &gt; 비타민D &gt; PGE₂, 조직검사(ALP·TRAP)도 동일 순서로 확인됨</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 ±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 ±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 ±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 ±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 임상측정 결과와 조직 소견이 서로를 뒷받침한다.</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치주인대(PDL) 폭 가장 넓게 유지</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2026-09-29T06:25:11Z</dcterms:created>
  <dcterms:modified xsi:type="dcterms:W3CDTF">2026-09-29T06:25:12Z</dcterms:modified>
</cp:coreProperties>
</file>