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 시작 인사. 이 연구는 동물실험(랫드)이라는 점을 처음부터 명확히 밝힐 것. 논문 출처(International Orthodontics, Elsevier, 프랑스교정학회 공식저널), 선정 사유(치과약리학1 20장 PGE2/COX 경로 + 구강생화학 '치아이동의 생화학적 변화' 학습목표와 직결)를 한 줄로 언급.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치과약리학1 20장(PGE2/COX/NSAID)에서 배운 '교정력→PGE2→RANKL→파골세포' 경로를 거꾸로 이용해 '외부에서 이 경로를 촉진하면 치아이동을 가속할 수 있지 않을까'라는 발상으로 자연스럽게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구강생화학 '뼈와 치아의 석회화, 혈청칼슘 항상성' 챕터에서 배운 칼슘/인 대사 조절호르몬(비타민D, PTH 등) 내용과 연결지어 설명하면 좋음.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 Discussion 'Comparison with previous studies' 문단 그대로 재구성. 코르티코스테로이드만 문헌 간 결과가 정반대인 이유(연구기간·용량 차이)를 짚으면 비평적 고찰과 자연스럽게 연결됨.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가설은 저자들의 공식 가설이 아니라 발표자가 결과 패턴(코르티코스테로이드=최대가속·최대재발, PGE2=최소가속·최소재발)을 보고 재구성한 것임을 언급.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동물실험이므로 Q&amp;A에서 '왜 랫드를 썼나' 물으면 '골개조·치아이동을 통제된 조건에서 관찰하기 위해 — 사람 대상으론 이 정도의 개입·조직검사가 불가능'이라고 답변.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 Table I·II 기준. 보정기(2주) 동안은 모든 군에서 유의한 변화 없음(장치를 다시 수동적으로 부착해 이동량을 '고정') — 질문 나오면 이 부분도 설명 가능.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가속량이 클수록(코르티코스테로이드) 재발량도 크고, 가속량이 작을수록(PGE2) 재발도 작다는 '가속-재발 트레이드오프' 패턴이 핵심 메시지. 원문 Table VI·VII, Table VIII·IX 기준.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 Figure 3(H&amp;E)·4(ALP)·5(TRAP) 모두 같은 순서(코르티코스테로이드 &gt; 비타민D &gt; PGE2 &gt; 대조군)로 조직학적 활성을 보여줌. 임상측정치와 조직 소견이 일치한다는 점이 이 논문의 방법론적 강점.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동물실험이라는 한계를 정면으로 짚어주는 게 신뢰도를 높임 — 숨기지 말고 먼저 말할 것. 코르티코스테로이드의 상반된 선행연구 결과는 발표 중 Q&amp;A로 넘어가기 좋은 지점.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교수님이 '그 인용 어디서 났나' 물으면 이 슬라이드로 바로 답 가능. 전체 28개 문헌은 원 논문 References 섹션에 있음.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치과약리학1 20장(PGE2/COX)과 구강생화학(치아이동의 생화학) 두 과목 내용이 이 논문 하나로 이어진다는 점을 다시 언급하며 마무리. Q&amp;A로 전환. 이 결론 슬라이드가 질의응답 동안 계속 화면에 남아있도록 References 뒤, Q&amp;A 슬라이드 바로 앞으로 옮김.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예상 질문 1: 동물실험 결과를 사람에게 그대로 적용할 수 있는가?
예상 질문 2: 코르티코스테로이드 결과가 일부 선행연구(Yamane, Molina 등)와 정반대인데, 이 연구가 더 신뢰할 만한 이유는?
예상 질문 3: 왜 세 약물의 용량을 하나씩만 테스트했는가? 용량을 늘리면 결과가 달라질 수 있지 않은가?
예상 질문 4: PGE2가 치근흡수를 유발할 수 있다는데, 이 연구에서는 그런 부작용을 확인했는가?
예상 질문 5: 암컷 랫드는 왜 제외했는가? 성별에 따라 결과가 다를 가능성은?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대비용 백업 슬라이드. 교수가 '원문 Discussion엔 대조군이 최저라고 되어있는데?' 라고 물으면 이 슬라이드를 띄우고: (1) Table III의 p3(CPG vs PGE2G)=0.605로 두 군이 통계적으로 구분 안 됨을 보여주고, (2) 원문 스스로도 Results/Conclusion과 Discussion에서 서술이 갈린다는 점을 지적하며, (3) '정확히는 대조군과 PGE2군이 재발 억제 면에서 통계적으로 동급'이라고 답변할 것. 임상적으로는 'PGE2가 가속 효과를 내면서도 재발은 무처치 수준으로 억제한다'는 게 이 발견의 가장 흥미로운 지점.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6400800" cy="6400800"/>
          </a:xfrm>
          <a:prstGeom prst="ellipse">
            <a:avLst/>
          </a:prstGeom>
          <a:solidFill>
            <a:srgbClr val="02809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286000" y="4114800"/>
            <a:ext cx="5029200" cy="5029200"/>
          </a:xfrm>
          <a:prstGeom prst="ellipse">
            <a:avLst/>
          </a:prstGeom>
          <a:solidFill>
            <a:srgbClr val="00A896">
              <a:alpha val="3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4173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치과약리학실험2 · 논문 발표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920240"/>
            <a:ext cx="10332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코르티코스테로이드·비타민D·PGE2가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교정 치아이동 가속 및 재발에 미치는 영향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65760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i="1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원제  Three pharmacological agents for acceleratory orthodontic tooth movement and subsequent relapse: A randomized controlled animal study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4709160"/>
            <a:ext cx="10332720" cy="18288"/>
          </a:xfrm>
          <a:prstGeom prst="rect">
            <a:avLst/>
          </a:prstGeom>
          <a:solidFill>
            <a:srgbClr val="5B7A7E">
              <a:alpha val="40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493776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저널  </a:t>
            </a:r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International Orthodontics, 2026;24:101112 (Elsevier)
</a:t>
            </a:r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  </a:t>
            </a:r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김민성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교정 치아이동 가속과 재발, 두 마리 토끼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224028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22402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20574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재발(relapse)과 고정력 상실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943600" y="2057400"/>
            <a:ext cx="5394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교정장치 제거 후 남아있던 결합력이 풀리면서 치아가 원래 위치로 돌아가려는 재발 현상 — 원인은 아직 명확히 규명되지 않음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33756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365760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36576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600200" y="34747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치아이동 가속의 필요성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0" y="3474720"/>
            <a:ext cx="5394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치료기간 단축을 위해 수술적·기계적·약리학적 방법으로 치아이동을 가속하는 연구가 활발 — 국소 약물주사·전신투여 모두 시도됨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75488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77240" y="507492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77240" y="50749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600200" y="48920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미해결 과제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0" y="4892040"/>
            <a:ext cx="5394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가속 효과를 낸 약물들이 보정(retention) 후 재발에 어떤 영향을 주는지는 선행연구가 거의 없음 — 이 연구가 처음으로 3개 약물의 재발까지 비교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세 약물, 서로 다른 경로로 파골세포를 깨우다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2240280"/>
            <a:ext cx="2286000" cy="594360"/>
          </a:xfrm>
          <a:prstGeom prst="roundRect">
            <a:avLst>
              <a:gd name="adj" fmla="val 46154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224028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코르티코스테로이드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3291840" y="2057400"/>
            <a:ext cx="8046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염증유전자 발현 억제 + 파골세포형성(osteoclastogenesis) 직접 자극 + 콜라게나아제 활성 증가 → 골흡수 강하게 촉진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333756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3657600"/>
            <a:ext cx="2286000" cy="594360"/>
          </a:xfrm>
          <a:prstGeom prst="roundRect">
            <a:avLst>
              <a:gd name="adj" fmla="val 46154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36576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비타민D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3474720"/>
            <a:ext cx="8046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파골세포 활성 자체를 증가시키고 면역매개체를 조절 → 골개조 촉진. 골칼슘단백(osteocalcin)·비타민D수용체 유전자 발현에도 관여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475488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77240" y="5074920"/>
            <a:ext cx="2286000" cy="594360"/>
          </a:xfrm>
          <a:prstGeom prst="roundRect">
            <a:avLst>
              <a:gd name="adj" fmla="val 46154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50749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PGE2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4892040"/>
            <a:ext cx="8046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RANKL 매개 파골세포형성을 자극 + 국소 골흡수 강화 — 교정력이 만드는 내인성 경로(COX→PGE2→RANKL)를 외부에서 직접 보충하는 셈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60350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세 약물 모두 '파골세포 활성화'라는 종착점은 같지만, 도달 경로(직접 자극 vs RANKL 매개 vs 면역조절)가 달라 가속 강도와 부작용(재발)이 다르게 나타남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왜 결과가 엇갈리는가, 그리고 이 연구의 공백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2103120"/>
            <a:ext cx="1106424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68680" y="221284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코르티코스테로이드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3840480" y="2212848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Baofeng·Abtahi 등은 골흡수·파골세포형성 증가로 가속 보고 / 반대로 Yamane·Molina 등은 오히려 치아이동 감소 보고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3383280"/>
            <a:ext cx="1106424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68680" y="349300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비타민D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3840480" y="3493008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Gowda·Varughese·Al-Attar·Moradinejad 등 다수가 골개조 증가·염증성 사이토카인 감소로 가속 효과 일관되게 보고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4663440"/>
            <a:ext cx="1106424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68680" y="477316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PGE2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3840480" y="4773168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Kale·Cağlaroğlu·Seifi 등이 RANKL 발현·파골활성 증가 보고 — 'PGE2 효과 없음'을 보고한 연구는 없음(저자 확인)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9893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상반된 결과는 연구기간(1~2주 vs 8주)·용량·힘·표본수 차이 때문(저자 설명) - 재발까지 세 약물을 비교한 연구는 이번이 최초, 진짜 공백은 여기 있음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연구 목적 및 가설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11064240" cy="1737360"/>
          </a:xfrm>
          <a:prstGeom prst="roundRect">
            <a:avLst>
              <a:gd name="adj" fmla="val 5263"/>
            </a:avLst>
          </a:prstGeom>
          <a:solidFill>
            <a:srgbClr val="FFFFFF">
              <a:alpha val="92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 목적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56032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랫드 모델에서 코르티코스테로이드·비타민D·PGE2의 국소(점막하) 주입이 교정 치아이동 가속 및 보정 후 재발에 미치는 영향을 비교한다. (귀무가설: 세 약물 간 가속기·재발기 효과에 차이가 없다)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48640" y="3931920"/>
            <a:ext cx="11064240" cy="1737360"/>
          </a:xfrm>
          <a:prstGeom prst="roundRect">
            <a:avLst>
              <a:gd name="adj" fmla="val 5263"/>
            </a:avLst>
          </a:prstGeom>
          <a:solidFill>
            <a:srgbClr val="02C39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4160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가설 (H1)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457200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약물 모두 대조군보다 치아이동을 가속하되, 가속 정도가 큰 약물일수록 보정 후 재발량도 클 것이다 (가속-재발 트레이드오프).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5군 랫드 모델, 4주 가속 + 2주 보정 + 2주 재발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874520"/>
            <a:ext cx="361188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00A896">
                <a:alpha val="25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2148840"/>
            <a:ext cx="3063240" cy="502920"/>
          </a:xfrm>
          <a:prstGeom prst="roundRect">
            <a:avLst>
              <a:gd name="adj" fmla="val 50909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14884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788920"/>
            <a:ext cx="31546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무작위배정, 눈가림(2번 저자),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랫드 105마리 → 5군(군당 21마리)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43400" y="1874520"/>
            <a:ext cx="361188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00A896">
                <a:alpha val="25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617720" y="2148840"/>
            <a:ext cx="3063240" cy="502920"/>
          </a:xfrm>
          <a:prstGeom prst="roundRect">
            <a:avLst>
              <a:gd name="adj" fmla="val 50909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617720" y="214884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군 구성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788920"/>
            <a:ext cx="31546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 음성대조(무처치) · II 양성대조(장치만)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III 코르티코스테로이드 · IV 비타민D · V PGE2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138160" y="1874520"/>
            <a:ext cx="361188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00A896">
                <a:alpha val="25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412480" y="2148840"/>
            <a:ext cx="3063240" cy="502920"/>
          </a:xfrm>
          <a:prstGeom prst="roundRect">
            <a:avLst>
              <a:gd name="adj" fmla="val 50909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12480" y="214884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개입 (점막하 주입)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366760" y="2788920"/>
            <a:ext cx="31546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III: 코르티코스테로이드 8mg/kg 매일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IV: 비타민D 10⁻¹⁰mol/L 3일마다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V: PGE2 0.1μg 매주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074920"/>
            <a:ext cx="8503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장치: 상악 절치 사이에 스테인리스 open-coil loop(25g 힘, tipping 이동) · 측정: 디지털캘리퍼(0.01mm)로 절치 간 거리 · 조직: PDL 폭, ALP·TRAP 염색(조골·파골세포 활성)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08076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일정: 가속기 4주 → 보정기 2주(장치 재부착, passive) → 재발기 2주(장치 완전 제거)</a:t>
            </a:r>
            <a:endParaRPr lang="en-US" sz="1250" dirty="0"/>
          </a:p>
        </p:txBody>
      </p:sp>
      <p:pic>
        <p:nvPicPr>
          <p:cNvPr id="17" name="Image 0" descr="assets/fig1_loop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281160" y="5029200"/>
            <a:ext cx="1554480" cy="1508760"/>
          </a:xfrm>
          <a:prstGeom prst="ellipse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281160" y="65196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Fig.1 원문 — loop 장착</a:t>
            </a:r>
            <a:endParaRPr lang="en-US" sz="850" dirty="0"/>
          </a:p>
        </p:txBody>
      </p:sp>
      <p:sp>
        <p:nvSpPr>
          <p:cNvPr id="19" name="Text 16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가속기(4주) — 치아이동량 비교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78308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548640" y="196596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8090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6.22 ± 0.90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8803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mm · 코르티코스테로이드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297680" y="178308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297680" y="196596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A896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3.44 ± 0.04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297680" y="28803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mm · 비타민D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046720" y="178308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046720" y="196596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2.54 ± 0.13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8803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mm · PGE2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79476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대조군(1.03±0.11mm) 대비 세 약물 모두 유의하게 가속(p&lt;0.001) - 가속 순위: 코르티코스테로이드&gt;비타민D&gt;PGE2, 조직검사(ALP·TRAP)도 동일 순서로 확인됨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480560"/>
          <a:ext cx="11064240" cy="1188720"/>
        </p:xfrm>
        <a:graphic>
          <a:graphicData uri="http://schemas.openxmlformats.org/drawingml/2006/table">
            <a:tbl>
              <a:tblPr/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군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양성대조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코르티코스테로이드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비타민D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PGE2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4주 후 이동량 (직후 대비 증가분)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1.03 ± 0.11 mm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6.22 ± 0.90 mm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3.44 ± 0.04 mm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2.54 ± 0.13 mm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Text 11"/>
          <p:cNvSpPr txBox="1"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모든 군간 비교 p&lt;0.001 (One-way ANOVA + Tukey)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재발기(2주) — 가속이 컸던 약물이 더 많이 되돌아간다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874520"/>
            <a:ext cx="5349240" cy="393192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68680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2주 재발 후 이동량 변화 (T0 대비)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65176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5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양성대조  </a:t>
            </a:r>
            <a:pPr indent="0" marL="0">
              <a:lnSpc>
                <a:spcPct val="150000"/>
              </a:lnSpc>
              <a:buNone/>
            </a:pPr>
            <a:r>
              <a:rPr lang="en-US" sz="135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-1.09 ± 0.17 mm
</a:t>
            </a:r>
            <a:pPr indent="0" marL="0">
              <a:lnSpc>
                <a:spcPct val="150000"/>
              </a:lnSpc>
              <a:buNone/>
            </a:pPr>
            <a:r>
              <a:rPr lang="en-US" sz="135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코르티코스테로이드  </a:t>
            </a:r>
            <a:pPr indent="0" marL="0">
              <a:lnSpc>
                <a:spcPct val="150000"/>
              </a:lnSpc>
              <a:buNone/>
            </a:pPr>
            <a:r>
              <a:rPr lang="en-US" sz="1350" b="1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-5.07 ± 0.87 mm  (최대 재발)
</a:t>
            </a:r>
            <a:pPr indent="0" marL="0">
              <a:lnSpc>
                <a:spcPct val="150000"/>
              </a:lnSpc>
              <a:buNone/>
            </a:pPr>
            <a:r>
              <a:rPr lang="en-US" sz="135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비타민D  </a:t>
            </a:r>
            <a:pPr indent="0" marL="0">
              <a:lnSpc>
                <a:spcPct val="150000"/>
              </a:lnSpc>
              <a:buNone/>
            </a:pPr>
            <a:r>
              <a:rPr lang="en-US" sz="135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-2.75 ± 0.15 mm
</a:t>
            </a:r>
            <a:pPr indent="0" marL="0">
              <a:lnSpc>
                <a:spcPct val="150000"/>
              </a:lnSpc>
              <a:buNone/>
            </a:pPr>
            <a:r>
              <a:rPr lang="en-US" sz="135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PGE2  </a:t>
            </a:r>
            <a:pPr indent="0" marL="0">
              <a:lnSpc>
                <a:spcPct val="150000"/>
              </a:lnSpc>
              <a:buNone/>
            </a:pPr>
            <a:r>
              <a:rPr lang="en-US" sz="1350" b="1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-0.86 ± 0.23 mm  (양성대조와 통계적 동률 최소)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54406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양성대조 vs PGE2 재발량 차이 - 통계적으로 유의하지 않음(p=0.605), Appendix 참고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263640" y="1874520"/>
            <a:ext cx="5349240" cy="3931920"/>
          </a:xfrm>
          <a:prstGeom prst="roundRect">
            <a:avLst>
              <a:gd name="adj" fmla="val 2326"/>
            </a:avLst>
          </a:prstGeom>
          <a:solidFill>
            <a:srgbClr val="0B2E3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83680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조직학적 소견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583680" y="265176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치주인대(PDL) 폭이 </a:t>
            </a:r>
            <a:pPr indent="0" marL="0">
              <a:lnSpc>
                <a:spcPct val="145000"/>
              </a:lnSpc>
              <a:buNone/>
            </a:pPr>
            <a:r>
              <a:rPr lang="en-US" sz="1350" b="1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코르티코스테로이드군에서 가장 넓게 유지</a:t>
            </a:r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(압박·긴장측 모두) — 대조군이 가장 좁음, 비타민D·PGE2군은 중간 수준. 임상측정 결과와 조직 소견이 서로를 뒷받침.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조직학적 소견 — 코르티코스테로이드군에서 PDL 폭 가장 넓게 유지</a:t>
            </a:r>
            <a:endParaRPr lang="en-US" sz="2800" dirty="0"/>
          </a:p>
        </p:txBody>
      </p:sp>
      <p:pic>
        <p:nvPicPr>
          <p:cNvPr id="3" name="Image 0" descr="assets/fig3_h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691640"/>
            <a:ext cx="4297680" cy="455371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63093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원문 Figure 3 (H&amp;E 염색, ×40) — A: 음성대조, B: 양성대조, C: 코르티코스테로이드, D: 비타민D, E: PGE2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40680" y="1920240"/>
            <a:ext cx="61264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4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코르티코스테로이드군(C) - 압박·긴장측 모두 치주인대(PDL) 폭 가장 넓게 유지</a:t>
            </a:r>
            <a:endParaRPr lang="en-US" sz="14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대조군(A, B) - PDL 폭 가장 좁음, 재발을 흡수할 조직 여유가 적음을 시사</a:t>
            </a:r>
            <a:endParaRPr lang="en-US" sz="14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비타민D(D)·PGE2(E)군 - 중간 수준의 PDL 폭</a:t>
            </a:r>
            <a:endParaRPr lang="en-US" sz="14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임상측정(캘리퍼) 결과와 조직 소견이 서로 뒷받침함</a:t>
            </a:r>
            <a:endParaRPr lang="en-US" sz="14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동일한 순서 패턴이 ALP·TRAP 염색(원문 Figure 4, 5)에서도 확인됨</a:t>
            </a:r>
            <a:endParaRPr lang="en-US" sz="1450" dirty="0"/>
          </a:p>
        </p:txBody>
      </p:sp>
      <p:sp>
        <p:nvSpPr>
          <p:cNvPr id="6" name="Text 3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비평적 고찰 (본인 의견 작성)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3611880" cy="438912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5875">
            <a:solidFill>
              <a:srgbClr val="02C39A"/>
            </a:solidFill>
            <a:prstDash val="dash"/>
          </a:ln>
        </p:spPr>
      </p:sp>
      <p:sp>
        <p:nvSpPr>
          <p:cNvPr id="4" name="Text 2"/>
          <p:cNvSpPr txBox="1"/>
          <p:nvPr/>
        </p:nvSpPr>
        <p:spPr>
          <a:xfrm>
            <a:off x="822960" y="21488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강점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697480"/>
            <a:ext cx="30632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가속기+보정기+재발기를 모두 추적한 최초의 3약물 비교 — 선행연구 공백을 직접 채움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임상측정(캘리퍼)+조직학(PDL폭, ALP/TRAP)으로 이중 검증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ARRIVE 가이드라인 준수, 윤리위 승인, 배정(allocation) 눈가림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공공연구비(만수라대) 지원, 이해상충 없음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525780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▸ 본인 의견 (발표 시 작성)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22960" y="562356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822960" y="594360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4343400" y="1920240"/>
            <a:ext cx="3611880" cy="438912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5875">
            <a:solidFill>
              <a:srgbClr val="02C39A"/>
            </a:solidFill>
            <a:prstDash val="dash"/>
          </a:ln>
        </p:spPr>
      </p:sp>
      <p:sp>
        <p:nvSpPr>
          <p:cNvPr id="10" name="Text 8"/>
          <p:cNvSpPr txBox="1"/>
          <p:nvPr/>
        </p:nvSpPr>
        <p:spPr>
          <a:xfrm>
            <a:off x="4617720" y="21488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한계 / Bias 위험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2697480"/>
            <a:ext cx="30632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동물(랫드)실험 — 종간 차이로 사람에 그대로 적용 어려움(저자도 인정)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수컷만 사용 — 호르몬 변동은 배제했지만 여성 적용 가능성은 미확인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약물당 용량 1개, 게다가 투여빈도도 매일·3일마다·매주로 제각각 — 공정 비교인지 불확실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배정만 눈가림, 측정(outcome assessment)은 비맹검 — 원문: 최종 배정 후엔 주 연구자 1인이 개입·측정·평가를 전부 수행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코르티코스테로이드 결과가 일부 선행연구와 정반대 — 재현성 논쟁 여지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525780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▸ 본인 의견 (발표 시 작성)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17720" y="562356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4617720" y="594360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8138160" y="1920240"/>
            <a:ext cx="3611880" cy="438912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5875">
            <a:solidFill>
              <a:srgbClr val="02C39A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8412480" y="21488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임상 적용 가능성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2697480"/>
            <a:ext cx="30632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코르티코스테로이드는 가속 효과 크지만 재발 위험도 가장 큼 — 신중한 임상 판단 필요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비타민D·PGE2는 가속은 온건해도 재발이 적어 상대적으로 안전한 보조제일 수 있음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PGE2는 고용량 시 치근흡수 위험 보고 있음(타 문헌) — 안전성-효능 균형 필요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→ 사람 대상 임상시험으로의 확장이 다음 단계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8412480" y="525780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▸ 본인 의견 (발표 시 작성)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412480" y="562356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8412480" y="594360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참고문헌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28800"/>
            <a:ext cx="1106424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[원 논문] Hamed SA, Mohammad MH, Grawish ME, Fouda AM, Montasser MA. Three pharmacological agents for acceleratory orthodontic tooth movement and subsequent relapse: A randomized controlled animal study. Int Orthod. 2026;24:101112. (본 발표의 원 논문)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[1] Baofeng L, Zhi Y, Bei L, Guolin M, Qingshui Y. Characterization of a rabbit osteoporosis model induced by ovariectomy and glucocorticoid. Bone 2010;46(3):396-401.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[2] Abtahi M, Shafaee H, Saghravania N, Peel S, Giddon D, Sohrabi K. Effect of corticosteroids administration in rabbit model. J Clin Pediatr Dent 2014;38:285-9.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[3] Yamane A, Fukui T, Chiba M. In vitro measurement of orthodontic tooth movement in rats given beta-aminopropionitrile or hydrocortisone. Eur J Orthod 1997;19(1):21-8.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[4] Molina Da Silva JP, et al. Studying orthodontic tooth movement in mice. J Vis Exp 2024;(66884):210.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[5] Gowda NC, Kumar P, Swasti KM. Vitamin D3 versus prostaglandin E1: a comparative clinical study on rate of orthodontic tooth movement. Int J Sci Res 2017;6:98-100.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[6] Varughese ST, et al. Effect of Vitamin D on canine distalization and alveolar bone density using multi-slice spiral CT. J Contemp Dent Pract 2019;20(12):1430-5.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[7] Al-Attar A, Abid M. The effect of vitamin D3 on the alignment of mandibular anterior teeth. Int J Dent 2022;2022.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[8] Kale S, Kocadereli I, Atilla P, Aşan E. Comparison of 1,25-dihydroxycholecalciferol and prostaglandin E2 on orthodontic tooth movement. Am J Orthod Dentofacial Orthop 2004;125:607-14.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[9] Cağlaroğlu M, Erdem A. Histopathologic investigation of prostaglandin E2 administered on tooth movement and bone metabolism. Korean J Orthod 2012;42:118-28.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[10] Seifi M, Hamedi R, Khavandegar Z. The effect of thyroid hormone, prostaglandin E2, and calcium gluconate on orthodontic tooth movement and root resorption in rats. J Dent 2015;16(1 Suppl):35.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922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슬라이드 4(선행연구 비교)에서 이름으로 인용한 문헌만 수록. 전체 참고문헌(28건)은 원 논문 References 참고.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0" y="-2743200"/>
            <a:ext cx="7315200" cy="7315200"/>
          </a:xfrm>
          <a:prstGeom prst="ellipse">
            <a:avLst/>
          </a:prstGeom>
          <a:solidFill>
            <a:srgbClr val="00A896">
              <a:alpha val="40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743200"/>
            <a:ext cx="10332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치아이동을 가장 많이 가속하는 약물이,</a:t>
            </a:r>
            <a:endParaRPr lang="en-US" sz="27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보정 후 가장 많이 되돌아가기도 한다.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70916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i="1" dirty="0">
                <a:solidFill>
                  <a:srgbClr val="F7FB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코르티코스테로이드=최대가속·최대재발 / PGE2=최소가속·최소재발(대조군과 통계적 동률) / 비타민D=중간 - '빠른 이동'과 '안정적 결과'의 트레이드오프를 보여준 첫 3약물 비교연구임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53212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7FB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PGE2·대조군 relapse 차이 p=0.605(유의하지 않음) - Appendix A 참고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2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65176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질의응답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749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감사합니다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APPENDIX A · Q&amp;A 백업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재발이 '가장 적은' 군은 대조군도 PGE2군도 아닌, 둘의 통계적 동률이다</a:t>
            </a:r>
            <a:endParaRPr lang="en-US" sz="2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64240" cy="1005840"/>
        </p:xfrm>
        <a:graphic>
          <a:graphicData uri="http://schemas.openxmlformats.org/drawingml/2006/table">
            <a:tbl>
              <a:tblPr/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3352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양성대조(CPG)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PGE2(PGE2G)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비타민D(VDG)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코르티코스테로이드(COG)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2주 재발량 (T0 대비)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-1.09 ± 0.17 mm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-0.86 ± 0.23 mm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-2.75 ± 0.15 mm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-5.07 ± 0.87 mm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원문 유의성 문자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29718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같은 문자(a, a) - 두 군간 통계적 유의차 없음 (Table III, Tukey post-hoc)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548640" y="352044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02C39A">
                <a:alpha val="40000"/>
              </a:srgbClr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68680" y="3703320"/>
            <a:ext cx="10424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수치:  </a:t>
            </a:r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양성대조 vs PGE2군의 2주 재발량 차이는 통계적으로 유의하지 않음 (p = 0.605, Table III). 반면 비타민D·코르티코스테로이드는 서로 및 위 두 군과 모두 유의하게 다름(p&lt;0.001).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0749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통계적으로 유의미한 계층 구조 :  {양성대조, PGE2} &lt; 비타민D &lt; 코르티코스테로이드  (재발 적은 순)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562356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Results 본문·Conclusions: "PGE2가 최소 재발"이라 서술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Discussion 'Interpretation of findings': "대조군이 최소, 그 다음 PGE2"라 서술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둘 다 raw mean 순위와 통계적 유의성 서술을 혼용한 단순화 - 정확한 결론은 위 표대로 '대조군·PGE2군 통계적 동률'임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2026-09-21T16:44:57Z</dcterms:created>
  <dcterms:modified xsi:type="dcterms:W3CDTF">2026-09-21T16:44:57Z</dcterms:modified>
</cp:coreProperties>
</file>