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Figure 3(H&amp;E)·4(ALP)·5(TRAP) 모두 같은 순서(코르티코스테로이드 &gt; 비타민D &gt; PGE2 &gt; 대조군)로 조직학적 활성을 보여줌. 임상측정치와 조직 소견이 일치한다는 점이 이 논문의 방법론적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교수님이 '그 인용 어디서 났나' 물으면 이 슬라이드로 바로 답 가능. 전체 28개 문헌은 원 논문 References 섹션에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상반된 결과는 연구기간(1~2주 vs 8주)·용량·힘·표본수 차이 때문(저자 설명) - 재발까지 세 약물을 비교한 연구는 이번이 최초, 진짜 공백은 여기 있음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7492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807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일정: 가속기 4주 → 보정기 2주(장치 재부착, passive) → 재발기 2주(장치 완전 제거)</a:t>
            </a:r>
            <a:endParaRPr lang="en-US" sz="1250" dirty="0"/>
          </a:p>
        </p:txBody>
      </p:sp>
      <p:pic>
        <p:nvPicPr>
          <p:cNvPr id="17" name="Image 0" descr="assets/fig1_lo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281160" y="5029200"/>
            <a:ext cx="1554480" cy="1508760"/>
          </a:xfrm>
          <a:prstGeom prst="ellipse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281160" y="65196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Fig.1 원문 — loop 장착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대조군(1.03±0.11mm) 대비 세 약물 모두 유의하게 가속(p&lt;0.001) - 가속 순위: 코르티코스테로이드&gt;비타민D&gt;PGE2, 조직검사(ALP·TRAP)도 동일 순서로 확인됨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군간 비교 p&lt;0.001 (One-way ANOVA + Tukey)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양성대조 vs PGE2 재발량 차이 - 통계적으로 유의하지 않음(p=0.605), Appendix 참고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 — 코르티코스테로이드군에서 PDL 폭 가장 넓게 유지</a:t>
            </a:r>
            <a:endParaRPr lang="en-US" sz="2800" dirty="0"/>
          </a:p>
        </p:txBody>
      </p:sp>
      <p:pic>
        <p:nvPicPr>
          <p:cNvPr id="3" name="Image 0" descr="assets/fig3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4297680" cy="45537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09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Figure 3 (H&amp;E 염색, ×40) — A: 음성대조, B: 양성대조, C: 코르티코스테로이드, D: 비타민D, E: PGE2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40680" y="192024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코르티코스테로이드군(C) - 압박·긴장측 모두 치주인대(PDL) 폭 가장 넓게 유지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대조군(A, B) - PDL 폭 가장 좁음, 재발을 흡수할 조직 여유가 적음을 시사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비타민D(D)·PGE2(E)군 - 중간 수준의 PDL 폭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 결과와 조직 소견이 서로 뒷받침함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동일한 순서 패턴이 ALP·TRAP 염색(원문 Figure 4, 5)에서도 확인됨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배정(allocation) 눈가림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34340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1개, 게다가 투여빈도도 매일·3일마다·매주로 제각각 — 공정 비교인지 불확실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배정만 눈가림, 측정(outcome assessment)은 비맹검 — 원문: 최종 배정 후엔 주 연구자 1인이 개입·측정·평가를 전부 수행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1772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13816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1248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PGE2=최소가속·최소재발(대조군과 통계적 동률) / 비타민D=중간 - '빠른 이동'과 '안정적 결과'의 트레이드오프를 보여준 첫 3약물 비교연구임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532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PGE2·대조군 relapse 차이 p=0.605(유의하지 않음) - Appendix A 참고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참고문헌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 논문] Hamed SA, Mohammad MH, Grawish ME, Fouda AM, Montasser MA. Three pharmacological agents for acceleratory orthodontic tooth movement and subsequent relapse: A randomized controlled animal study. Int Orthod. 2026;24:101112. (본 발표의 원 논문)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Baofeng L, Zhi Y, Bei L, Guolin M, Qingshui Y. Characterization of a rabbit osteoporosis model induced by ovariectomy and glucocorticoid. Bone 2010;46(3):396-401.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Abtahi M, Shafaee H, Saghravania N, Peel S, Giddon D, Sohrabi K. Effect of corticosteroids administration in rabbit model. J Clin Pediatr Dent 2014;38:285-9.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Yamane A, Fukui T, Chiba M. In vitro measurement of orthodontic tooth movement in rats given beta-aminopropionitrile or hydrocortisone. Eur J Orthod 1997;19(1):21-8.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[4] Molina Da Silva JP, et al. Studying orthodontic tooth movement in mice. J Vis Exp 2024;(66884):210.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[5] Gowda NC, Kumar P, Swasti KM. Vitamin D3 versus prostaglandin E1: a comparative clinical study on rate of orthodontic tooth movement. Int J Sci Res 2017;6:98-100.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[6] Varughese ST, et al. Effect of Vitamin D on canine distalization and alveolar bone density using multi-slice spiral CT. J Contemp Dent Pract 2019;20(12):1430-5.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[7] Al-Attar A, Abid M. The effect of vitamin D3 on the alignment of mandibular anterior teeth. Int J Dent 2022;2022.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[8] Kale S, Kocadereli I, Atilla P, Aşan E. Comparison of 1,25-dihydroxycholecalciferol and prostaglandin E2 on orthodontic tooth movement. Am J Orthod Dentofacial Orthop 2004;125:607-14.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[9] Cağlaroğlu M, Erdem A. Histopathologic investigation of prostaglandin E2 administered on tooth movement and bone metabolism. Korean J Orthod 2012;42:118-28.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[10] Seifi M, Hamedi R, Khavandegar Z. The effect of thyroid hormone, prostaglandin E2, and calcium gluconate on orthodontic tooth movement and root resorption in rats. J Dent 2015;16(1 Suppl):35.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슬라이드 4(선행연구 비교)에서 이름으로 인용한 문헌만 수록. 전체 참고문헌(28건)은 원 논문 References 참고.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같은 문자(a, a) - 두 군간 통계적 유의차 없음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통계적으로 유의미한 계층 구조 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Results 본문·Conclusions: "PGE2가 최소 재발"이라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'Interpretation of findings': "대조군이 최소, 그 다음 PGE2"라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둘 다 raw mean 순위와 통계적 유의성 서술을 혼용한 단순화 - 정확한 결론은 위 표대로 '대조군·PGE2군 통계적 동률'임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2026-09-21T16:41:35Z</dcterms:created>
  <dcterms:modified xsi:type="dcterms:W3CDTF">2026-09-21T16:41:35Z</dcterms:modified>
</cp:coreProperties>
</file>