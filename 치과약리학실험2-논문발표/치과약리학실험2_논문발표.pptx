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세포질 수용체와 결합한 뒤 이량체화되어 핵으로 이동하고, COX-2를 비롯한 염증유전자의 전사를 억제합니다. 그런데 동시에 파골세포형성을 직접 자극하고 콜라게나아제 활성도 높여서, 골흡수를 가장 강하게 촉진합니다. 치과약리학 교안(34장)에도 코르티코스테로이드의 골격계 작용으로 조골세포 활성은 감소시키고 파골세포 활성은 증가시킨다고 나와 있습니다.
비타민D는 비타민D수용체, VDR에 결합해서 표적유전자 발현을 조절하는 방식으로 파골세포 활성 자체를 높이면서 면역매개체를 조절합니다. PGE2는 아라키돈산이 유도형 COX-2를 거쳐 PGE2로 전환된 뒤 EP 수용체를 통해 RANKL 발현을 유도해서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10에서 더 자세히 다루겠습니다.
[발표 팁] 구강생화학 '뼈와 치아의 석회화, 혈청칼슘 항상성' 챕터에서 배운 칼슘/인 대사 조절호르몬(비타민D, PTH 등) 내용과 연결지어 설명하면 좋음. 세 경로의 차이는 슬라이드 10(치과약리학적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3:40~4:40]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4:40~5:20]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6:10~6:40]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6:40~8:00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8:00~9:00]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이건 이 연구의 국소 주입과는 별개로, 전신 코르티코스테로이드 자체가 골다공증·골괴사, 조골세포 활성 감소·파골세포 활성 증가, 성장억제 같은 부작용을 갖는다고 치과약리학 교안(34장)에 명시돼 있기 때문인데요, 장기간 전신 스테로이드를 복용 중인 환자의 치아이동 계획을 세울 때는 이 부분도 함께 고려해야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9:00~9:30]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9:30~10:15]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10:15~11:00]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
Q6. 코르티코스테로이드는 COX-2 발현을 억제해서 PGE2 생성을 줄일 텐데, 왜 치아이동 가속이 가장 컸는가?
→ 논문은 코르티코스테로이드의 가속 기전을 '염증유전자 발현 억제 + 파골세포형성 자극 + 콜라게나아제 활성 증가'로 설명할 뿐, PGE2 경로를 거친다고는 하지 않습니다. 실제로 이 연구는 COX-2·PGE2·RANKL을 직접 측정하지 않았습니다.
→ 관련 문헌을 보면, 글루코코르티코이드는 조골세포·골세포에서 RANKL과 M-CSF 발현을 높이고 OPG(osteoprotegerin)는 낮춰서 RANKL/OPG 비를 파골세포 쪽으로 기울이고, 특히 OPG 억제가 주된 경로로 보고됩니다. 즉 COX-2·PGE2를 거치지 않고도 RANKL 축을 직접 열 수 있어서, 치과약리학 교안(34장)의 '조골세포↓·파골세포↑'와도 맞습니다.
→ 다만 동물 치아이동 문헌 자체가 용량·기간에 따라 엇갈립니다. 코르티코스테로이드 동물 연구 리뷰에서는 실험 기간 3~49일, 용량 0.5~15mg/kg 범위에서 감소 2편·무영향 2편·증가 2편으로 갈렸고, 고용량 히드로코르티손(15mg/kg)을 쓴 토끼 연구에서는 치아이동이 3~4배 빨랐습니다. 또 장기 투여에서는 파골세포 수명은 늘지만 흡수 능력 자체는 떨어진다는 보고도 있어서, 이 연구의 고용량·매일 국소주입 조건이 가속 쪽으로 작용했다고 해석할 수 있습니다(이 해석은 추정입니다).
→ 정리하면 '기전은 문헌에 근거한 추정이고, 이 연구가 직접 검증한 건 아니어서 COX-2·PGE2·RANKL/OPG 측정이 후속 연구 과제'라고 답하면 됩니다.
[Q6 근거 문헌] (1) Pathogenic mechanisms of glucocorticoid-induced osteoporosis (PMC10518688) — RANKL·M-CSF 상승, OPG 감소. (2) Cortical bone loss caused by glucocorticoid excess requires RANKL production by osteocytes, Am J Physiol Endocrinol Metab (doi:10.1152/ajpendo.00219.2016). (3) Influence of corticosteroid therapy on orthodontic tooth movement: a narrative review of studies in animal-models, Orthod Craniofac Res (doi:10.1111/ocr.12243). (4) Glucocorticoids suppress bone formation via the osteoclast, J Clin Invest (jci.org/articles/view/28084).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Pretendard" pitchFamily="34" charset="0"/>
                <a:ea typeface="Pretendard" pitchFamily="34" charset="-122"/>
                <a:cs typeface="Pretendard" pitchFamily="34" charset="-120"/>
              </a:rPr>
              <a:t>2026-2 〈치과약리학실험2〉</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Pretendard" pitchFamily="34" charset="0"/>
                <a:ea typeface="Pretendard" pitchFamily="34" charset="-122"/>
                <a:cs typeface="Pretendard" pitchFamily="34" charset="-120"/>
              </a:rPr>
              <a:t>Three Pharmacological Agents for Acceleratory</a:t>
            </a:r>
            <a:endParaRPr lang="en-US" sz="2700" dirty="0"/>
          </a:p>
          <a:p>
            <a:pPr indent="0" marL="0">
              <a:lnSpc>
                <a:spcPct val="125000"/>
              </a:lnSpc>
              <a:buNone/>
            </a:pPr>
            <a:r>
              <a:rPr lang="en-US" sz="2700" b="1" dirty="0">
                <a:solidFill>
                  <a:srgbClr val="FFFFFF"/>
                </a:solidFill>
                <a:latin typeface="Pretendard" pitchFamily="34" charset="0"/>
                <a:ea typeface="Pretendard" pitchFamily="34" charset="-122"/>
                <a:cs typeface="Pretendard"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Pretendard" pitchFamily="34" charset="0"/>
                <a:ea typeface="Pretendard" pitchFamily="34" charset="-122"/>
                <a:cs typeface="Pretendard"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저널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International Orthodontics, 2026;24:101112 (Elsevier)
</a:t>
            </a:r>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저자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Hamed SA, et al. (Mansoura University, Egypt)
</a:t>
            </a:r>
            <a:pPr indent="0" marL="0">
              <a:lnSpc>
                <a:spcPct val="150000"/>
              </a:lnSpc>
              <a:buNone/>
            </a:pPr>
            <a:r>
              <a:rPr lang="en-US" sz="1400" b="1" dirty="0">
                <a:solidFill>
                  <a:srgbClr val="D97706"/>
                </a:solidFill>
                <a:latin typeface="Pretendard" pitchFamily="34" charset="0"/>
                <a:ea typeface="Pretendard" pitchFamily="34" charset="-122"/>
                <a:cs typeface="Pretendard" pitchFamily="34" charset="-120"/>
              </a:rPr>
              <a:t>발표자  </a:t>
            </a:r>
            <a:pPr indent="0" marL="0">
              <a:lnSpc>
                <a:spcPct val="150000"/>
              </a:lnSpc>
              <a:buNone/>
            </a:pPr>
            <a:r>
              <a:rPr lang="en-US" sz="1400" dirty="0">
                <a:solidFill>
                  <a:srgbClr val="FFFFFF"/>
                </a:solidFill>
                <a:latin typeface="Pretendard" pitchFamily="34" charset="0"/>
                <a:ea typeface="Pretendard" pitchFamily="34" charset="-122"/>
                <a:cs typeface="Pretendard"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7" name="Text 5"/>
          <p:cNvSpPr txBox="1"/>
          <p:nvPr/>
        </p:nvSpPr>
        <p:spPr>
          <a:xfrm>
            <a:off x="1783080" y="214884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2" name="Text 10"/>
          <p:cNvSpPr txBox="1"/>
          <p:nvPr/>
        </p:nvSpPr>
        <p:spPr>
          <a:xfrm>
            <a:off x="1783080" y="368503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7" name="Text 15"/>
          <p:cNvSpPr txBox="1"/>
          <p:nvPr/>
        </p:nvSpPr>
        <p:spPr>
          <a:xfrm>
            <a:off x="1783080" y="522122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Pretendard" pitchFamily="34" charset="0"/>
                <a:ea typeface="Pretendard" pitchFamily="34" charset="-122"/>
                <a:cs typeface="Pretendard"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Pretendard" pitchFamily="34" charset="0"/>
                <a:ea typeface="Pretendard" pitchFamily="34" charset="-122"/>
                <a:cs typeface="Pretendard"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29184"/>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MECHANISM</a:t>
            </a:r>
            <a:endParaRPr lang="en-US" sz="1200" dirty="0"/>
          </a:p>
        </p:txBody>
      </p:sp>
      <p:sp>
        <p:nvSpPr>
          <p:cNvPr id="3" name="Text 1"/>
          <p:cNvSpPr txBox="1"/>
          <p:nvPr/>
        </p:nvSpPr>
        <p:spPr>
          <a:xfrm>
            <a:off x="649224"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세포질 수용체와 결합→이량체화→핵 이동,</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COX-2 등 염증유전자 전사 억제 + 파골세포형성 직접 자극 + collagenase 활성 증가 (조골세포↓·파골세포↑)</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Pretendard" pitchFamily="34" charset="0"/>
                <a:ea typeface="Pretendard" pitchFamily="34" charset="-122"/>
                <a:cs typeface="Pretendard"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비타민D수용체(VDR)와 결합</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 표적 유전자 발현 조절로 파골세포 활성 자체를 증가시키고 면역 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Pretendard" pitchFamily="34" charset="0"/>
                <a:ea typeface="Pretendard" pitchFamily="34" charset="-122"/>
                <a:cs typeface="Pretendard" pitchFamily="34" charset="-120"/>
              </a:rPr>
              <a:t>→ 골개조 촉진</a:t>
            </a:r>
            <a:endParaRPr lang="en-US" sz="1200" dirty="0"/>
          </a:p>
          <a:p>
            <a:pPr indent="0" marL="0">
              <a:lnSpc>
                <a:spcPct val="130000"/>
              </a:lnSpc>
              <a:buNone/>
            </a:pPr>
            <a:r>
              <a:rPr lang="en-US" sz="1200" b="1" i="1" dirty="0">
                <a:solidFill>
                  <a:srgbClr val="3D7EA6"/>
                </a:solidFill>
                <a:latin typeface="Pretendard" pitchFamily="34" charset="0"/>
                <a:ea typeface="Pretendard" pitchFamily="34" charset="-122"/>
                <a:cs typeface="Pretendard" pitchFamily="34" charset="-120"/>
              </a:rPr>
              <a:t>+ osteocalcin·비타민D수용체 유전자 발현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000" dirty="0">
                <a:solidFill>
                  <a:srgbClr val="16232E"/>
                </a:solidFill>
                <a:latin typeface="Pretendard" pitchFamily="34" charset="0"/>
                <a:ea typeface="Pretendard" pitchFamily="34" charset="-122"/>
                <a:cs typeface="Pretendard" pitchFamily="34" charset="-120"/>
              </a:rPr>
              <a:t>(아라키돈산이 유도형 COX-2를 거쳐 PGE₂로 전환)</a:t>
            </a:r>
            <a:endParaRPr lang="en-US" sz="1250" dirty="0"/>
          </a:p>
          <a:p>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 EP 수용체 통해 RANKL 발현 유도,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Pretendard" pitchFamily="34" charset="0"/>
                <a:ea typeface="Pretendard" pitchFamily="34" charset="-122"/>
                <a:cs typeface="Pretendard"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Pretendard" pitchFamily="34" charset="0"/>
                <a:ea typeface="Pretendard" pitchFamily="34" charset="-122"/>
                <a:cs typeface="Pretendard"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Pretendard" pitchFamily="34" charset="0"/>
                <a:ea typeface="Pretendard" pitchFamily="34" charset="-122"/>
                <a:cs typeface="Pretendard"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Pretendard" pitchFamily="34" charset="0"/>
                <a:ea typeface="Pretendard" pitchFamily="34" charset="-122"/>
                <a:cs typeface="Pretendard"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Pretendard" pitchFamily="34" charset="0"/>
                <a:ea typeface="Pretendard" pitchFamily="34" charset="-122"/>
                <a:cs typeface="Pretendard"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Pretendard" pitchFamily="34" charset="0"/>
                <a:ea typeface="Pretendard" pitchFamily="34" charset="-122"/>
                <a:cs typeface="Pretendard"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Pretendard" pitchFamily="34" charset="0"/>
                <a:ea typeface="Pretendard" pitchFamily="34" charset="-122"/>
                <a:cs typeface="Pretendard"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Pretendard" pitchFamily="34" charset="0"/>
                <a:ea typeface="Pretendard" pitchFamily="34" charset="-122"/>
                <a:cs typeface="Pretendard"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Pretendard" pitchFamily="34" charset="0"/>
                <a:ea typeface="Pretendard" pitchFamily="34" charset="-122"/>
                <a:cs typeface="Pretendard"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Pretendard" pitchFamily="34" charset="0"/>
                <a:ea typeface="Pretendard" pitchFamily="34" charset="-122"/>
                <a:cs typeface="Pretendard"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무작위배정, 눈가림(2번째 저자가 배정)— 최종 배정 후엔 주 연구자 1인이 개입·측정·평가 전부 수행</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Pretendard" pitchFamily="34" charset="0"/>
                <a:ea typeface="Pretendard" pitchFamily="34" charset="-122"/>
                <a:cs typeface="Pretendard" pitchFamily="34" charset="-120"/>
              </a:rPr>
              <a:t>•  측정: 디지털 캘리퍼(0.01mm)로 절치 간 거리</a:t>
            </a:r>
            <a:endParaRPr lang="en-US" sz="1200" dirty="0"/>
          </a:p>
        </p:txBody>
      </p:sp>
      <p:sp>
        <p:nvSpPr>
          <p:cNvPr id="7" name="Shape 5"/>
          <p:cNvSpPr/>
          <p:nvPr/>
        </p:nvSpPr>
        <p:spPr>
          <a:xfrm>
            <a:off x="960120" y="4014216"/>
            <a:ext cx="347472" cy="301752"/>
          </a:xfrm>
          <a:prstGeom prst="roundRect">
            <a:avLst>
              <a:gd name="adj" fmla="val 18182"/>
            </a:avLst>
          </a:prstGeom>
          <a:solidFill>
            <a:srgbClr val="9AA5B1"/>
          </a:solidFill>
          <a:ln/>
        </p:spPr>
      </p:sp>
      <p:sp>
        <p:nvSpPr>
          <p:cNvPr id="8" name="Text 6"/>
          <p:cNvSpPr txBox="1"/>
          <p:nvPr/>
        </p:nvSpPr>
        <p:spPr>
          <a:xfrm>
            <a:off x="960120" y="401421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a:t>
            </a:r>
            <a:endParaRPr lang="en-US" sz="1100" dirty="0"/>
          </a:p>
        </p:txBody>
      </p:sp>
      <p:sp>
        <p:nvSpPr>
          <p:cNvPr id="9" name="Text 7"/>
          <p:cNvSpPr txBox="1"/>
          <p:nvPr/>
        </p:nvSpPr>
        <p:spPr>
          <a:xfrm>
            <a:off x="1426464" y="398678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음성대조</a:t>
            </a:r>
            <a:endParaRPr lang="en-US" sz="1100" dirty="0"/>
          </a:p>
        </p:txBody>
      </p:sp>
      <p:sp>
        <p:nvSpPr>
          <p:cNvPr id="10" name="Text 8"/>
          <p:cNvSpPr txBox="1"/>
          <p:nvPr/>
        </p:nvSpPr>
        <p:spPr>
          <a:xfrm>
            <a:off x="3749040" y="398678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무처치, OTM 없음</a:t>
            </a:r>
            <a:endParaRPr lang="en-US" sz="1050" dirty="0"/>
          </a:p>
        </p:txBody>
      </p:sp>
      <p:sp>
        <p:nvSpPr>
          <p:cNvPr id="11" name="Shape 9"/>
          <p:cNvSpPr/>
          <p:nvPr/>
        </p:nvSpPr>
        <p:spPr>
          <a:xfrm>
            <a:off x="960120" y="4370832"/>
            <a:ext cx="347472" cy="301752"/>
          </a:xfrm>
          <a:prstGeom prst="roundRect">
            <a:avLst>
              <a:gd name="adj" fmla="val 18182"/>
            </a:avLst>
          </a:prstGeom>
          <a:solidFill>
            <a:srgbClr val="9AA5B1"/>
          </a:solidFill>
          <a:ln/>
        </p:spPr>
      </p:sp>
      <p:sp>
        <p:nvSpPr>
          <p:cNvPr id="12" name="Text 10"/>
          <p:cNvSpPr txBox="1"/>
          <p:nvPr/>
        </p:nvSpPr>
        <p:spPr>
          <a:xfrm>
            <a:off x="960120" y="437083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II</a:t>
            </a:r>
            <a:endParaRPr lang="en-US" sz="1100" dirty="0"/>
          </a:p>
        </p:txBody>
      </p:sp>
      <p:sp>
        <p:nvSpPr>
          <p:cNvPr id="13" name="Text 11"/>
          <p:cNvSpPr txBox="1"/>
          <p:nvPr/>
        </p:nvSpPr>
        <p:spPr>
          <a:xfrm>
            <a:off x="1426464" y="434340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양성대조(CPG)</a:t>
            </a:r>
            <a:endParaRPr lang="en-US" sz="1100" dirty="0"/>
          </a:p>
        </p:txBody>
      </p:sp>
      <p:sp>
        <p:nvSpPr>
          <p:cNvPr id="14" name="Text 12"/>
          <p:cNvSpPr txBox="1"/>
          <p:nvPr/>
        </p:nvSpPr>
        <p:spPr>
          <a:xfrm>
            <a:off x="3749040" y="434340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OTM만, 약물 없음</a:t>
            </a:r>
            <a:endParaRPr lang="en-US" sz="1050" dirty="0"/>
          </a:p>
        </p:txBody>
      </p:sp>
      <p:sp>
        <p:nvSpPr>
          <p:cNvPr id="15" name="Shape 13"/>
          <p:cNvSpPr/>
          <p:nvPr/>
        </p:nvSpPr>
        <p:spPr>
          <a:xfrm>
            <a:off x="960120" y="4727448"/>
            <a:ext cx="347472" cy="301752"/>
          </a:xfrm>
          <a:prstGeom prst="roundRect">
            <a:avLst>
              <a:gd name="adj" fmla="val 18182"/>
            </a:avLst>
          </a:prstGeom>
          <a:solidFill>
            <a:srgbClr val="D97706"/>
          </a:solidFill>
          <a:ln/>
        </p:spPr>
      </p:sp>
      <p:sp>
        <p:nvSpPr>
          <p:cNvPr id="16" name="Text 14"/>
          <p:cNvSpPr txBox="1"/>
          <p:nvPr/>
        </p:nvSpPr>
        <p:spPr>
          <a:xfrm>
            <a:off x="960120" y="472744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III</a:t>
            </a:r>
            <a:endParaRPr lang="en-US" sz="1100" dirty="0"/>
          </a:p>
        </p:txBody>
      </p:sp>
      <p:sp>
        <p:nvSpPr>
          <p:cNvPr id="17" name="Text 15"/>
          <p:cNvSpPr txBox="1"/>
          <p:nvPr/>
        </p:nvSpPr>
        <p:spPr>
          <a:xfrm>
            <a:off x="1426464" y="470001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코르티코스테로이드(COG)</a:t>
            </a:r>
            <a:endParaRPr lang="en-US" sz="1100" dirty="0"/>
          </a:p>
        </p:txBody>
      </p:sp>
      <p:sp>
        <p:nvSpPr>
          <p:cNvPr id="18" name="Text 16"/>
          <p:cNvSpPr txBox="1"/>
          <p:nvPr/>
        </p:nvSpPr>
        <p:spPr>
          <a:xfrm>
            <a:off x="3749040" y="470001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50µL 8mg/kg, 매일 주입</a:t>
            </a:r>
            <a:endParaRPr lang="en-US" sz="1050" dirty="0"/>
          </a:p>
        </p:txBody>
      </p:sp>
      <p:sp>
        <p:nvSpPr>
          <p:cNvPr id="19" name="Shape 17"/>
          <p:cNvSpPr/>
          <p:nvPr/>
        </p:nvSpPr>
        <p:spPr>
          <a:xfrm>
            <a:off x="960120" y="5084064"/>
            <a:ext cx="347472" cy="301752"/>
          </a:xfrm>
          <a:prstGeom prst="roundRect">
            <a:avLst>
              <a:gd name="adj" fmla="val 18182"/>
            </a:avLst>
          </a:prstGeom>
          <a:solidFill>
            <a:srgbClr val="3D7EA6"/>
          </a:solidFill>
          <a:ln/>
        </p:spPr>
      </p:sp>
      <p:sp>
        <p:nvSpPr>
          <p:cNvPr id="20" name="Text 18"/>
          <p:cNvSpPr txBox="1"/>
          <p:nvPr/>
        </p:nvSpPr>
        <p:spPr>
          <a:xfrm>
            <a:off x="960120" y="508406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IV</a:t>
            </a:r>
            <a:endParaRPr lang="en-US" sz="1100" dirty="0"/>
          </a:p>
        </p:txBody>
      </p:sp>
      <p:sp>
        <p:nvSpPr>
          <p:cNvPr id="21" name="Text 19"/>
          <p:cNvSpPr txBox="1"/>
          <p:nvPr/>
        </p:nvSpPr>
        <p:spPr>
          <a:xfrm>
            <a:off x="1426464" y="505663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비타민D(VDG)</a:t>
            </a:r>
            <a:endParaRPr lang="en-US" sz="1100" dirty="0"/>
          </a:p>
        </p:txBody>
      </p:sp>
      <p:sp>
        <p:nvSpPr>
          <p:cNvPr id="22" name="Text 20"/>
          <p:cNvSpPr txBox="1"/>
          <p:nvPr/>
        </p:nvSpPr>
        <p:spPr>
          <a:xfrm>
            <a:off x="3749040" y="505663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20µL 10⁻¹⁰mol/L, 3일마다 주입</a:t>
            </a:r>
            <a:endParaRPr lang="en-US" sz="1050" dirty="0"/>
          </a:p>
        </p:txBody>
      </p:sp>
      <p:sp>
        <p:nvSpPr>
          <p:cNvPr id="23" name="Shape 21"/>
          <p:cNvSpPr/>
          <p:nvPr/>
        </p:nvSpPr>
        <p:spPr>
          <a:xfrm>
            <a:off x="960120" y="5440680"/>
            <a:ext cx="347472" cy="301752"/>
          </a:xfrm>
          <a:prstGeom prst="roundRect">
            <a:avLst>
              <a:gd name="adj" fmla="val 18182"/>
            </a:avLst>
          </a:prstGeom>
          <a:solidFill>
            <a:srgbClr val="2F855A"/>
          </a:solidFill>
          <a:ln/>
        </p:spPr>
      </p:sp>
      <p:sp>
        <p:nvSpPr>
          <p:cNvPr id="24" name="Text 22"/>
          <p:cNvSpPr txBox="1"/>
          <p:nvPr/>
        </p:nvSpPr>
        <p:spPr>
          <a:xfrm>
            <a:off x="960120" y="544068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V</a:t>
            </a:r>
            <a:endParaRPr lang="en-US" sz="1100" dirty="0"/>
          </a:p>
        </p:txBody>
      </p:sp>
      <p:sp>
        <p:nvSpPr>
          <p:cNvPr id="25" name="Text 23"/>
          <p:cNvSpPr txBox="1"/>
          <p:nvPr/>
        </p:nvSpPr>
        <p:spPr>
          <a:xfrm>
            <a:off x="1426464" y="541324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Pretendard" pitchFamily="34" charset="0"/>
                <a:ea typeface="Pretendard" pitchFamily="34" charset="-122"/>
                <a:cs typeface="Pretendard" pitchFamily="34" charset="-120"/>
              </a:rPr>
              <a:t>PGE₂(PGE₂G)</a:t>
            </a:r>
            <a:endParaRPr lang="en-US" sz="1100" dirty="0"/>
          </a:p>
        </p:txBody>
      </p:sp>
      <p:sp>
        <p:nvSpPr>
          <p:cNvPr id="26" name="Text 24"/>
          <p:cNvSpPr txBox="1"/>
          <p:nvPr/>
        </p:nvSpPr>
        <p:spPr>
          <a:xfrm>
            <a:off x="3749040" y="541324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Pretendard" pitchFamily="34" charset="0"/>
                <a:ea typeface="Pretendard" pitchFamily="34" charset="-122"/>
                <a:cs typeface="Pretendard"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Pretendard" pitchFamily="34" charset="0"/>
                <a:ea typeface="Pretendard" pitchFamily="34" charset="-122"/>
                <a:cs typeface="Pretendard"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데이터의 정규 분포성 확인</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3개 이상 군의 평균을 한 번에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ANOVA가 유의하면 모든 군을 쌍(pair)으로 나눠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Pretendard" pitchFamily="34" charset="0"/>
                <a:ea typeface="Pretendard" pitchFamily="34" charset="-122"/>
                <a:cs typeface="Pretendard"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Pretendard" pitchFamily="34" charset="0"/>
                <a:ea typeface="Pretendard" pitchFamily="34" charset="-122"/>
                <a:cs typeface="Pretendard"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같은 개체를 두 시점에서 비교</a:t>
            </a:r>
            <a:endParaRPr lang="en-US" sz="1050" dirty="0"/>
          </a:p>
          <a:p>
            <a:pPr indent="0" marL="0">
              <a:lnSpc>
                <a:spcPct val="130000"/>
              </a:lnSpc>
              <a:buNone/>
            </a:pPr>
            <a:r>
              <a:rPr lang="en-US" sz="1050" dirty="0">
                <a:solidFill>
                  <a:srgbClr val="16232E"/>
                </a:solidFill>
                <a:latin typeface="Pretendard" pitchFamily="34" charset="0"/>
                <a:ea typeface="Pretendard" pitchFamily="34" charset="-122"/>
                <a:cs typeface="Pretendard" pitchFamily="34" charset="-120"/>
              </a:rPr>
              <a:t>▷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Pretendard" pitchFamily="34" charset="0"/>
                <a:ea typeface="Pretendard" pitchFamily="34" charset="-122"/>
                <a:cs typeface="Pretendard" pitchFamily="34" charset="-120"/>
              </a:rPr>
              <a:t>이 논문의 분석 흐름  </a:t>
            </a:r>
            <a:pPr indent="0" marL="0">
              <a:lnSpc>
                <a:spcPct val="130000"/>
              </a:lnSpc>
              <a:buNone/>
            </a:pPr>
            <a:r>
              <a:rPr lang="en-US" sz="1100" dirty="0">
                <a:solidFill>
                  <a:srgbClr val="16232E"/>
                </a:solidFill>
                <a:latin typeface="Pretendard" pitchFamily="34" charset="0"/>
                <a:ea typeface="Pretendard" pitchFamily="34" charset="-122"/>
                <a:cs typeface="Pretendard"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Pretendard" pitchFamily="34" charset="0"/>
                <a:ea typeface="Pretendard" pitchFamily="34" charset="-122"/>
                <a:cs typeface="Pretendard" pitchFamily="34" charset="-120"/>
              </a:rPr>
              <a:t>p &lt; 0.05의 의미  </a:t>
            </a:r>
            <a:pPr indent="0" marL="0">
              <a:lnSpc>
                <a:spcPct val="130000"/>
              </a:lnSpc>
              <a:buNone/>
            </a:pPr>
            <a:r>
              <a:rPr lang="en-US" sz="1100" dirty="0">
                <a:solidFill>
                  <a:srgbClr val="16232E"/>
                </a:solidFill>
                <a:latin typeface="Pretendard" pitchFamily="34" charset="0"/>
                <a:ea typeface="Pretendard" pitchFamily="34" charset="-122"/>
                <a:cs typeface="Pretendard"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Pretendard" pitchFamily="34" charset="0"/>
                <a:ea typeface="Pretendard" pitchFamily="34" charset="-122"/>
                <a:cs typeface="Pretendard"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Pretendard" pitchFamily="34" charset="0"/>
                <a:ea typeface="Pretendard" pitchFamily="34" charset="-122"/>
                <a:cs typeface="Pretendard"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Pretendard" pitchFamily="34" charset="0"/>
                <a:ea typeface="Pretendard" pitchFamily="34" charset="-122"/>
                <a:cs typeface="Pretendard"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dirty="0">
                <a:solidFill>
                  <a:srgbClr val="1B4965"/>
                </a:solidFill>
                <a:latin typeface="Pretendard" pitchFamily="34" charset="0"/>
                <a:ea typeface="Pretendard" pitchFamily="34" charset="-122"/>
                <a:cs typeface="Pretendard" pitchFamily="34" charset="-120"/>
              </a:rPr>
              <a:t>→ 대조군(1.29±0.11mm) 대비 세 약물 모두 유의하게 가속 (p &lt; 0.001)</a:t>
            </a:r>
            <a:endParaRPr lang="en-US" sz="1300" dirty="0"/>
          </a:p>
          <a:p>
            <a:pPr indent="0" marL="0">
              <a:lnSpc>
                <a:spcPct val="130000"/>
              </a:lnSpc>
              <a:buNone/>
            </a:pPr>
            <a:r>
              <a:rPr lang="en-US" sz="1300" dirty="0">
                <a:solidFill>
                  <a:srgbClr val="1B4965"/>
                </a:solidFill>
                <a:latin typeface="Pretendard" pitchFamily="34" charset="0"/>
                <a:ea typeface="Pretendard" pitchFamily="34" charset="-122"/>
                <a:cs typeface="Pretendard" pitchFamily="34" charset="-120"/>
              </a:rPr>
              <a:t>—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2743200"/>
                <a:gridCol w="2103120"/>
                <a:gridCol w="2468880"/>
                <a:gridCol w="2103120"/>
                <a:gridCol w="1490472"/>
              </a:tblGrid>
              <a:tr h="502920">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군</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양성대조(CPG)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코르티코스테로이드(COG)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비타민D(VDG)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PGE₂(PGE₂G)</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4주 후 이동량(직후 대비 증가분)</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1.29 ± 0.11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6.50 ± 0.88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3.73 ± 0.14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Pretendard" pitchFamily="34" charset="0"/>
                          <a:ea typeface="Pretendard" pitchFamily="34" charset="-122"/>
                          <a:cs typeface="Pretendard" pitchFamily="34" charset="-120"/>
                        </a:rPr>
                        <a:t>2.80 ± 0.15 mm</a:t>
                      </a:r>
                      <a:endParaRPr lang="en-US" sz="115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Pretendard" pitchFamily="34" charset="0"/>
                <a:ea typeface="Pretendard" pitchFamily="34" charset="-122"/>
                <a:cs typeface="Pretendard"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Pretendard" pitchFamily="34" charset="0"/>
                <a:ea typeface="Pretendard" pitchFamily="34" charset="-122"/>
                <a:cs typeface="Pretendard" pitchFamily="34" charset="-120"/>
              </a:rPr>
              <a:t>-1.09</a:t>
            </a:r>
            <a:endParaRPr lang="en-US" sz="4000" dirty="0"/>
          </a:p>
          <a:p>
            <a:pPr algn="ctr" indent="0" marL="0">
              <a:buNone/>
            </a:pPr>
            <a:r>
              <a:rPr lang="en-US" sz="2000" b="1" dirty="0">
                <a:solidFill>
                  <a:srgbClr val="9AA5B1"/>
                </a:solidFill>
                <a:latin typeface="Pretendard" pitchFamily="34" charset="0"/>
                <a:ea typeface="Pretendard" pitchFamily="34" charset="-122"/>
                <a:cs typeface="Pretendard" pitchFamily="34" charset="-120"/>
              </a:rPr>
              <a:t>±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Pretendard" pitchFamily="34" charset="0"/>
                <a:ea typeface="Pretendard" pitchFamily="34" charset="-122"/>
                <a:cs typeface="Pretendard" pitchFamily="34" charset="-120"/>
              </a:rPr>
              <a:t>-0.86</a:t>
            </a:r>
            <a:endParaRPr lang="en-US" sz="4000" dirty="0"/>
          </a:p>
          <a:p>
            <a:pPr algn="ctr" indent="0" marL="0">
              <a:buNone/>
            </a:pPr>
            <a:r>
              <a:rPr lang="en-US" sz="2000" b="1" dirty="0">
                <a:solidFill>
                  <a:srgbClr val="2F855A"/>
                </a:solidFill>
                <a:latin typeface="Pretendard" pitchFamily="34" charset="0"/>
                <a:ea typeface="Pretendard" pitchFamily="34" charset="-122"/>
                <a:cs typeface="Pretendard" pitchFamily="34" charset="-120"/>
              </a:rPr>
              <a:t>±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Pretendard" pitchFamily="34" charset="0"/>
                <a:ea typeface="Pretendard" pitchFamily="34" charset="-122"/>
                <a:cs typeface="Pretendard" pitchFamily="34" charset="-120"/>
              </a:rPr>
              <a:t>-2.75</a:t>
            </a:r>
            <a:endParaRPr lang="en-US" sz="4000" dirty="0"/>
          </a:p>
          <a:p>
            <a:pPr algn="ctr" indent="0" marL="0">
              <a:buNone/>
            </a:pPr>
            <a:r>
              <a:rPr lang="en-US" sz="2000" b="1" dirty="0">
                <a:solidFill>
                  <a:srgbClr val="3D7EA6"/>
                </a:solidFill>
                <a:latin typeface="Pretendard" pitchFamily="34" charset="0"/>
                <a:ea typeface="Pretendard" pitchFamily="34" charset="-122"/>
                <a:cs typeface="Pretendard" pitchFamily="34" charset="-120"/>
              </a:rPr>
              <a:t>±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Pretendard" pitchFamily="34" charset="0"/>
                <a:ea typeface="Pretendard" pitchFamily="34" charset="-122"/>
                <a:cs typeface="Pretendard" pitchFamily="34" charset="-120"/>
              </a:rPr>
              <a:t>-5.07</a:t>
            </a:r>
            <a:endParaRPr lang="en-US" sz="4000" dirty="0"/>
          </a:p>
          <a:p>
            <a:pPr algn="ctr" indent="0" marL="0">
              <a:buNone/>
            </a:pPr>
            <a:r>
              <a:rPr lang="en-US" sz="2000" b="1" dirty="0">
                <a:solidFill>
                  <a:srgbClr val="D97706"/>
                </a:solidFill>
                <a:latin typeface="Pretendard" pitchFamily="34" charset="0"/>
                <a:ea typeface="Pretendard" pitchFamily="34" charset="-122"/>
                <a:cs typeface="Pretendard" pitchFamily="34" charset="-120"/>
              </a:rPr>
              <a:t>±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Pretendard" pitchFamily="34" charset="0"/>
                <a:ea typeface="Pretendard" pitchFamily="34" charset="-122"/>
                <a:cs typeface="Pretendard"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Pretendard" pitchFamily="34" charset="0"/>
                <a:ea typeface="Pretendard" pitchFamily="34" charset="-122"/>
                <a:cs typeface="Pretendard"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Pretendard" pitchFamily="34" charset="0"/>
                <a:ea typeface="Pretendard" pitchFamily="34" charset="-122"/>
                <a:cs typeface="Pretendard"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Pretendard" pitchFamily="34" charset="0"/>
                <a:ea typeface="Pretendard" pitchFamily="34" charset="-122"/>
                <a:cs typeface="Pretendard"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Pretendard" pitchFamily="34" charset="0"/>
                <a:ea typeface="Pretendard" pitchFamily="34" charset="-122"/>
                <a:cs typeface="Pretendard"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코르티코스테로이드군(C) — 압박·긴장측 모두 해당</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비타민D(D)·PGE₂(E)군 — 중간 수준의 PDL 폭</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Pretendard" pitchFamily="34" charset="0"/>
                <a:ea typeface="Pretendard" pitchFamily="34" charset="-122"/>
                <a:cs typeface="Pretendard"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스테로이드성 항염증제</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지용성 호르몬</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지질 매개체(autacoid)</a:t>
            </a:r>
            <a:endParaRPr lang="en-US" sz="1050" dirty="0"/>
          </a:p>
          <a:p>
            <a:pPr algn="ctr" indent="0" marL="0">
              <a:lnSpc>
                <a:spcPct val="110000"/>
              </a:lnSpc>
              <a:buNone/>
            </a:pPr>
            <a:r>
              <a:rPr lang="en-US" sz="1050" i="1" dirty="0">
                <a:solidFill>
                  <a:srgbClr val="FFFFFF"/>
                </a:solidFill>
                <a:latin typeface="Pretendard" pitchFamily="34" charset="0"/>
                <a:ea typeface="Pretendard" pitchFamily="34" charset="-122"/>
                <a:cs typeface="Pretendard"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Pretendard" pitchFamily="34" charset="0"/>
                <a:ea typeface="Pretendard" pitchFamily="34" charset="-122"/>
                <a:cs typeface="Pretendard"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Pretendard" pitchFamily="34" charset="0"/>
                <a:ea typeface="Pretendard" pitchFamily="34" charset="-122"/>
                <a:cs typeface="Pretendard" pitchFamily="34" charset="-120"/>
              </a:rPr>
              <a:t>핵심 시사점  </a:t>
            </a:r>
            <a:pPr indent="0" marL="0">
              <a:lnSpc>
                <a:spcPct val="130000"/>
              </a:lnSpc>
              <a:buNone/>
            </a:pPr>
            <a:r>
              <a:rPr lang="en-US" sz="1200" dirty="0">
                <a:solidFill>
                  <a:srgbClr val="16232E"/>
                </a:solidFill>
                <a:latin typeface="Pretendard" pitchFamily="34" charset="0"/>
                <a:ea typeface="Pretendard" pitchFamily="34" charset="-122"/>
                <a:cs typeface="Pretendard"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Pretendard" pitchFamily="34" charset="0"/>
                <a:ea typeface="Pretendard" pitchFamily="34" charset="-122"/>
                <a:cs typeface="Pretendard" pitchFamily="34" charset="-120"/>
              </a:rPr>
              <a:t>치과교정학 기본원칙과의 연결  </a:t>
            </a:r>
            <a:pPr indent="0" marL="0">
              <a:lnSpc>
                <a:spcPct val="130000"/>
              </a:lnSpc>
              <a:buNone/>
            </a:pPr>
            <a:r>
              <a:rPr lang="en-US" sz="1200" dirty="0">
                <a:solidFill>
                  <a:srgbClr val="16232E"/>
                </a:solidFill>
                <a:latin typeface="Pretendard" pitchFamily="34" charset="0"/>
                <a:ea typeface="Pretendard" pitchFamily="34" charset="-122"/>
                <a:cs typeface="Pretendard"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Pretendard" pitchFamily="34" charset="0"/>
                <a:ea typeface="Pretendard" pitchFamily="34" charset="-122"/>
                <a:cs typeface="Pretendard"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전신 코르티코스테로이드의 골 관련 부작용(골다공증·골괴사, 조골세포↓·파골세포↑, 성장억제)은 이 연구의 국소 주입과 별개로 교안에 명시된 위험 — 장기 전신 스테로이드 환자의 치아이동 계획 시 반드시 고려</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Pretendard" pitchFamily="34" charset="0"/>
                <a:ea typeface="Pretendard" pitchFamily="34" charset="-122"/>
                <a:cs typeface="Pretendard"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Pretendard" pitchFamily="34" charset="0"/>
                <a:ea typeface="Pretendard" pitchFamily="34" charset="-122"/>
                <a:cs typeface="Pretendard"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Pretendard" pitchFamily="34" charset="0"/>
                <a:ea typeface="Pretendard" pitchFamily="34" charset="-122"/>
                <a:cs typeface="Pretendard"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Pretendard" pitchFamily="34" charset="0"/>
                <a:ea typeface="Pretendard" pitchFamily="34" charset="-122"/>
                <a:cs typeface="Pretendard"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Pretendard" pitchFamily="34" charset="0"/>
                <a:ea typeface="Pretendard" pitchFamily="34" charset="-122"/>
                <a:cs typeface="Pretendard"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Pretendard" pitchFamily="34" charset="0"/>
                <a:ea typeface="Pretendard" pitchFamily="34" charset="-122"/>
                <a:cs typeface="Pretendard"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Pretendard" pitchFamily="34" charset="0"/>
                <a:ea typeface="Pretendard" pitchFamily="34" charset="-122"/>
                <a:cs typeface="Pretendard"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Pretendard" pitchFamily="34" charset="0"/>
                <a:ea typeface="Pretendard" pitchFamily="34" charset="-122"/>
                <a:cs typeface="Pretendard"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Pretendard" pitchFamily="34" charset="0"/>
                <a:ea typeface="Pretendard" pitchFamily="34" charset="-122"/>
                <a:cs typeface="Pretendard"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Pretendard" pitchFamily="34" charset="0"/>
                <a:ea typeface="Pretendard" pitchFamily="34" charset="-122"/>
                <a:cs typeface="Pretendard"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Pretendard" pitchFamily="34" charset="0"/>
                <a:ea typeface="Pretendard" pitchFamily="34" charset="-122"/>
                <a:cs typeface="Pretendard"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Pretendard" pitchFamily="34" charset="0"/>
                <a:ea typeface="Pretendard" pitchFamily="34" charset="-122"/>
                <a:cs typeface="Pretendard"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Pretendard" pitchFamily="34" charset="0"/>
                <a:ea typeface="Pretendard" pitchFamily="34" charset="-122"/>
                <a:cs typeface="Pretendard"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Pretendard" pitchFamily="34" charset="0"/>
                <a:ea typeface="Pretendard" pitchFamily="34" charset="-122"/>
                <a:cs typeface="Pretendard"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양성대조</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(CPG)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PGE₂</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(PGE₂G)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비타민D</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(VDG)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코르티코스테로이드</a:t>
                      </a:r>
                      <a:endParaRPr lang="en-US" sz="1100" dirty="0">
                        <a:latin typeface="Pretendard" charset="0"/>
                        <a:ea typeface="Pretendard" charset="0"/>
                        <a:cs typeface="Pretendard" charset="0"/>
                      </a:endParaRPr>
                    </a:p>
                    <a:p>
                      <a:pPr algn="ctr" indent="0" marL="0">
                        <a:buNone/>
                      </a:pPr>
                      <a:r>
                        <a:rPr lang="en-US" sz="1100" b="1" dirty="0">
                          <a:solidFill>
                            <a:srgbClr val="FFFFFF"/>
                          </a:solidFill>
                          <a:latin typeface="Pretendard" pitchFamily="34" charset="0"/>
                          <a:ea typeface="Pretendard" pitchFamily="34" charset="-122"/>
                          <a:cs typeface="Pretendard" pitchFamily="34" charset="-120"/>
                        </a:rPr>
                        <a:t>(COG)</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2주 재발량(T0 대비)</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-1.09 ± 0.17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-0.86 ± 0.23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-2.75 ± 0.15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-5.07 ± 0.87 mm</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원문 유의성 문자</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a</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a</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b</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Pretendard" pitchFamily="34" charset="0"/>
                          <a:ea typeface="Pretendard" pitchFamily="34" charset="-122"/>
                          <a:cs typeface="Pretendard" pitchFamily="34" charset="-120"/>
                        </a:rPr>
                        <a:t>c</a:t>
                      </a:r>
                      <a:endParaRPr lang="en-US" sz="1100" dirty="0">
                        <a:latin typeface="Pretendard" charset="0"/>
                        <a:ea typeface="Pretendard" charset="0"/>
                        <a:cs typeface="Pretendard"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Pretendard" pitchFamily="34" charset="0"/>
                <a:ea typeface="Pretendard" pitchFamily="34" charset="-122"/>
                <a:cs typeface="Pretendard"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핵심 수치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통계적으로 유의미한 계층 구조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{양성대조, PGE2} &lt; 비타민D &lt; 코르티코스테로이드 (재발 적은 순)
</a:t>
            </a:r>
            <a:pPr indent="0" marL="0">
              <a:lnSpc>
                <a:spcPct val="135000"/>
              </a:lnSpc>
              <a:buNone/>
            </a:pPr>
            <a:r>
              <a:rPr lang="en-US" sz="1250" b="1" dirty="0">
                <a:solidFill>
                  <a:srgbClr val="1B4965"/>
                </a:solidFill>
                <a:latin typeface="Pretendard" pitchFamily="34" charset="0"/>
                <a:ea typeface="Pretendard" pitchFamily="34" charset="-122"/>
                <a:cs typeface="Pretendard" pitchFamily="34" charset="-120"/>
              </a:rPr>
              <a:t>원문 서술 간 불일치 주의  </a:t>
            </a:r>
            <a:pPr indent="0" marL="0">
              <a:lnSpc>
                <a:spcPct val="135000"/>
              </a:lnSpc>
              <a:buNone/>
            </a:pPr>
            <a:r>
              <a:rPr lang="en-US" sz="1250" dirty="0">
                <a:solidFill>
                  <a:srgbClr val="16232E"/>
                </a:solidFill>
                <a:latin typeface="Pretendard" pitchFamily="34" charset="0"/>
                <a:ea typeface="Pretendard" pitchFamily="34" charset="-122"/>
                <a:cs typeface="Pretendard"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2026-09-29T17:44:54Z</dcterms:created>
  <dcterms:modified xsi:type="dcterms:W3CDTF">2026-09-29T17:44:54Z</dcterms:modified>
</cp:coreProperties>
</file>